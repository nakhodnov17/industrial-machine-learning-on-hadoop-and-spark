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76" r:id="rId4"/>
    <p:sldId id="258" r:id="rId5"/>
    <p:sldId id="260" r:id="rId6"/>
    <p:sldId id="279" r:id="rId7"/>
    <p:sldId id="261" r:id="rId8"/>
    <p:sldId id="263" r:id="rId9"/>
    <p:sldId id="278" r:id="rId10"/>
    <p:sldId id="277" r:id="rId11"/>
    <p:sldId id="264" r:id="rId12"/>
    <p:sldId id="265" r:id="rId13"/>
    <p:sldId id="266" r:id="rId14"/>
    <p:sldId id="267" r:id="rId15"/>
    <p:sldId id="268" r:id="rId16"/>
    <p:sldId id="269" r:id="rId17"/>
    <p:sldId id="280" r:id="rId18"/>
    <p:sldId id="270" r:id="rId19"/>
    <p:sldId id="271" r:id="rId20"/>
    <p:sldId id="283" r:id="rId21"/>
    <p:sldId id="284" r:id="rId22"/>
    <p:sldId id="282" r:id="rId23"/>
    <p:sldId id="272" r:id="rId24"/>
    <p:sldId id="287" r:id="rId25"/>
    <p:sldId id="273" r:id="rId26"/>
    <p:sldId id="285" r:id="rId27"/>
    <p:sldId id="286" r:id="rId28"/>
    <p:sldId id="288" r:id="rId29"/>
    <p:sldId id="289" r:id="rId30"/>
    <p:sldId id="290" r:id="rId31"/>
    <p:sldId id="292" r:id="rId32"/>
    <p:sldId id="293" r:id="rId33"/>
    <p:sldId id="294" r:id="rId34"/>
    <p:sldId id="291" r:id="rId3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8ED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59"/>
    <p:restoredTop sz="96405"/>
  </p:normalViewPr>
  <p:slideViewPr>
    <p:cSldViewPr snapToGrid="0" snapToObjects="1" showGuides="1">
      <p:cViewPr>
        <p:scale>
          <a:sx n="101" d="100"/>
          <a:sy n="101" d="100"/>
        </p:scale>
        <p:origin x="440" y="840"/>
      </p:cViewPr>
      <p:guideLst>
        <p:guide orient="horz" pos="220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BF6EAE-B82E-BC4A-BDEE-36473373A37A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370A5C-8A04-3A47-923A-D08A7CEEFD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1451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331D5A-E201-7474-4B1A-5BD19B5896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CACECF7-4DA8-CE55-6485-5F1F77C5DB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284EDE-F261-5961-8FD2-B845DB46C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1ADCB9-5366-F668-C6B4-917C6A2B8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C08356-EC1C-C0AF-3442-4A2E7DFC2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1964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5BE389-735E-A11E-F79E-7640FFA6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FDBF44-CAD3-B74E-10E4-A9BF562D4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DA6533-7671-1C9B-BA84-E51504650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52B4D0-3325-69B2-3960-6E71E567F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A6CF87-AB08-426F-0D53-3DBBE0622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1144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44122F-92D0-FC73-D26B-A821BF52B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A7618E2-109C-7CC6-8155-A55233859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23CCF2-8484-59BE-E69A-89874BCA3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C9B669-7276-5091-A52D-22F85797D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5CA5AD-BF3F-27BF-55E4-649A0CC07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5820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49B833-9DC9-0B81-C4D9-6B42F2DDF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877BDE-B32D-8958-29C3-D2A9F9AAA2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E119958-D063-99B2-E2FB-30A66DD96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7470D1E-2CCE-EEAF-B672-3A9E9D40A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286A597-B7D1-ED62-3285-D364F0AF4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F470D36-BCC0-3261-B1F0-7D6B5A81E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0659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3B1CC6-C706-B6C0-FDCB-FA94B9100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C3CBE6A-5B25-27D0-C684-29DB79D2A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1DF7E6A-40E3-46D1-9B43-524503710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135165E-9BAF-31E2-E4E8-01CCA24D0F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CB16CD3-56D3-A37F-56FB-CE97EA8BA0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A7ED33E-EA87-D8F4-8992-401D344DF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1F2D7E0-2878-41A1-0EC2-2B9014873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F9222BA-7D9B-88A0-B7E5-3BBA14C9A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8540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B90632-6D57-82C4-2334-6DFDE27CA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CD5B416-D99B-CA60-B9BA-29273A2A3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18C257F-7982-2BE5-A531-70E7DF016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A063ED8-ADAF-F272-99DD-66C03E212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243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A43745E-ABFC-44E7-14B0-CB7766BEC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255CDFB-3A4E-79BA-93DA-AFA0361AC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2D84A93-B78B-7BF0-7AA4-7F685BD1D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9755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B65BCE-05D7-FEFD-3533-C07B8BD89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111FC4-2EA3-6308-8156-C72F88ACF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1113F83-276C-691B-A16E-5E74F3316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0739AA7-5F87-7737-D618-DE755B101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82F201D-5D8D-F270-7379-B9C697035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DFBCD0D-823D-8001-7BDA-17B72BE3A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5512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5CC6E7-F034-BA12-B3FB-BED1D63B6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C78D401-37AC-6344-4558-04D562F937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5357C2E-F25D-F67E-7554-5F75897537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424F36D-DEC8-00E6-0287-01C503A3D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96FBDD6-3BCC-9FE1-DC82-EA39E7953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5677A20-1D78-B2AE-AD62-ABBFEDE12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3140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9D4461-D3CB-615C-7987-4673B4D09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6CF3012-741E-4439-39E5-C94A53DAA2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3AED54-2280-AEF4-1870-59EA90000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083FE9-8983-5897-BB3B-E39F9FFE2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79589F-B354-4ED6-6AAA-B1D90D373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567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FD55CA7-3716-60C4-6659-BAA53780DE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0273567-58FC-40D3-90BB-9E26091032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FB68AFA-4476-9BBD-3200-AEF1074E3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E15B1D-1856-7580-F921-A5F9EA96E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65C6A57-CD75-9D77-B2B2-E346F9CD6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8998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497047-18CC-B795-F77F-282CCFD8D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4874D3-7A2D-F771-C8DF-F7BAF0335F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0163B5-2B4B-30D5-90A2-68163F2681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158E46-324A-0F41-A8E0-24AAA974ABFE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63CEBD-2B04-9620-F1D7-51A9CE25B8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199310-CB4C-7A92-B236-7EBB29C829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9458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://spark.apache.org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CD94878-F624-767A-70EF-8946148807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229" b="-6088"/>
          <a:stretch/>
        </p:blipFill>
        <p:spPr>
          <a:xfrm>
            <a:off x="0" y="0"/>
            <a:ext cx="12192000" cy="7344796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AF8BB4-F5CF-1511-E969-809676AC88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4179" y="3641967"/>
            <a:ext cx="10515600" cy="2189797"/>
          </a:xfrm>
        </p:spPr>
        <p:txBody>
          <a:bodyPr>
            <a:normAutofit fontScale="90000"/>
          </a:bodyPr>
          <a:lstStyle/>
          <a:p>
            <a:pPr algn="l"/>
            <a:r>
              <a:rPr lang="en" b="1" dirty="0">
                <a:ln w="22225">
                  <a:solidFill>
                    <a:schemeClr val="bg1"/>
                  </a:solidFill>
                  <a:prstDash val="solid"/>
                </a:ln>
                <a:latin typeface="Helvetica Neue" panose="02000503000000020004" pitchFamily="2" charset="0"/>
              </a:rPr>
              <a:t>Industrial Machine Learning on Hadoop and Spark</a:t>
            </a:r>
            <a:br>
              <a:rPr lang="en" b="1" dirty="0">
                <a:ln w="22225">
                  <a:solidFill>
                    <a:schemeClr val="bg1"/>
                  </a:solidFill>
                  <a:prstDash val="solid"/>
                </a:ln>
                <a:latin typeface="Helvetica Neue" panose="02000503000000020004" pitchFamily="2" charset="0"/>
              </a:rPr>
            </a:br>
            <a:endParaRPr lang="ru-RU" b="1" dirty="0">
              <a:ln w="22225">
                <a:solidFill>
                  <a:schemeClr val="bg1"/>
                </a:solidFill>
                <a:prstDash val="solid"/>
              </a:ln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5E0D339-4BFD-3D45-CBF6-BC31547482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21672" y="6129627"/>
            <a:ext cx="5648960" cy="378902"/>
          </a:xfrm>
        </p:spPr>
        <p:txBody>
          <a:bodyPr>
            <a:normAutofit/>
          </a:bodyPr>
          <a:lstStyle/>
          <a:p>
            <a:r>
              <a:rPr lang="en" sz="2000" b="1" dirty="0" err="1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Maks</a:t>
            </a:r>
            <a:r>
              <a:rPr lang="en" sz="2000" b="1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" sz="2000" b="1" dirty="0" err="1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Nakhodnov</a:t>
            </a:r>
            <a:r>
              <a:rPr lang="en" sz="2000" b="1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, Bremen 2025</a:t>
            </a:r>
            <a:endParaRPr lang="en" sz="2000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5890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A92E03-FC92-52CB-17FF-7BE9F4505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sz="4400" dirty="0">
                <a:ea typeface="Times New Roman"/>
                <a:cs typeface="Times New Roman" panose="02020603050405020304" pitchFamily="18" charset="0"/>
                <a:sym typeface="Times New Roman"/>
              </a:rPr>
              <a:t>Distributed computing</a:t>
            </a:r>
            <a:r>
              <a:rPr lang="ru-RU" sz="4400" dirty="0">
                <a:ea typeface="Times New Roman"/>
                <a:cs typeface="Times New Roman" panose="02020603050405020304" pitchFamily="18" charset="0"/>
                <a:sym typeface="Times New Roman"/>
              </a:rPr>
              <a:t>. </a:t>
            </a:r>
            <a:r>
              <a:rPr lang="en-US" dirty="0"/>
              <a:t>Spark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3A7CED-94F3-7500-3D48-5CF5EB0D1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" dirty="0"/>
              <a:t> Plan:</a:t>
            </a:r>
            <a:endParaRPr lang="ru-RU" dirty="0"/>
          </a:p>
          <a:p>
            <a:pPr lvl="1"/>
            <a:r>
              <a:rPr lang="en" dirty="0"/>
              <a:t>Spark — main abstractions and objects</a:t>
            </a:r>
            <a:endParaRPr lang="ru-RU" dirty="0"/>
          </a:p>
          <a:p>
            <a:pPr lvl="1"/>
            <a:r>
              <a:rPr lang="en" dirty="0"/>
              <a:t>Actions and transformations</a:t>
            </a:r>
            <a:endParaRPr lang="ru-RU" dirty="0"/>
          </a:p>
          <a:p>
            <a:pPr lvl="1"/>
            <a:r>
              <a:rPr lang="en-US" dirty="0"/>
              <a:t>RDD API</a:t>
            </a:r>
          </a:p>
          <a:p>
            <a:pPr lvl="1"/>
            <a:r>
              <a:rPr lang="en-US" dirty="0" err="1"/>
              <a:t>DataFrame</a:t>
            </a:r>
            <a:r>
              <a:rPr lang="en-US" dirty="0"/>
              <a:t> API</a:t>
            </a:r>
            <a:endParaRPr lang="ru-RU" dirty="0"/>
          </a:p>
          <a:p>
            <a:pPr marL="0" indent="0">
              <a:buNone/>
            </a:pP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619353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A92E03-FC92-52CB-17FF-7BE9F4505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3A7CED-94F3-7500-3D48-5CF5EB0D1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" dirty="0"/>
              <a:t> Plan:</a:t>
            </a:r>
            <a:endParaRPr lang="ru-RU" dirty="0"/>
          </a:p>
          <a:p>
            <a:pPr lvl="1"/>
            <a:r>
              <a:rPr lang="en" dirty="0"/>
              <a:t>Spark — main abstractions and objects</a:t>
            </a:r>
            <a:endParaRPr lang="ru-RU" dirty="0"/>
          </a:p>
          <a:p>
            <a:pPr lvl="1"/>
            <a:r>
              <a:rPr lang="en" dirty="0"/>
              <a:t>Actions and transformations</a:t>
            </a:r>
            <a:endParaRPr lang="ru-RU" dirty="0"/>
          </a:p>
          <a:p>
            <a:pPr lvl="1"/>
            <a:r>
              <a:rPr lang="en" dirty="0"/>
              <a:t>Data locality. Serialization</a:t>
            </a:r>
            <a:endParaRPr lang="ru-RU" dirty="0"/>
          </a:p>
          <a:p>
            <a:pPr marL="0" indent="0">
              <a:buNone/>
            </a:pP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224991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AD745E-FD66-E529-17AE-28B4F7225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Spark. Motivation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BB3E0C6-0910-8DC1-B229-FD99ED6AB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6446" y="1580744"/>
            <a:ext cx="8890000" cy="4572000"/>
          </a:xfrm>
          <a:prstGeom prst="rect">
            <a:avLst/>
          </a:prstGeom>
        </p:spPr>
      </p:pic>
      <p:sp>
        <p:nvSpPr>
          <p:cNvPr id="5" name="Стрелка вправо 4">
            <a:extLst>
              <a:ext uri="{FF2B5EF4-FFF2-40B4-BE49-F238E27FC236}">
                <a16:creationId xmlns:a16="http://schemas.microsoft.com/office/drawing/2014/main" id="{4E91F05E-62BA-6DD5-5A2E-7B908B237F2F}"/>
              </a:ext>
            </a:extLst>
          </p:cNvPr>
          <p:cNvSpPr/>
          <p:nvPr/>
        </p:nvSpPr>
        <p:spPr>
          <a:xfrm flipH="1">
            <a:off x="8605737" y="2981529"/>
            <a:ext cx="1277566" cy="719846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2077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AD745E-FD66-E529-17AE-28B4F7225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vs MapReduce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14C1FB8-F93D-0BFB-6491-7FF313C1E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144" y="5404379"/>
            <a:ext cx="7555712" cy="132556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7D2EC7B-DF5C-5F7D-DAE5-EBDB2B8F4CF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84" t="2682" r="2932" b="3468"/>
          <a:stretch/>
        </p:blipFill>
        <p:spPr>
          <a:xfrm>
            <a:off x="2861734" y="1453621"/>
            <a:ext cx="6468532" cy="3759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041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AD745E-FD66-E529-17AE-28B4F7225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vs MapReduce</a:t>
            </a:r>
            <a:endParaRPr lang="ru-RU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785B01CD-8278-697D-4C07-A7F025E7F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566" y="1535547"/>
            <a:ext cx="6001124" cy="29574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" sz="2400" dirty="0"/>
              <a:t>MapReduce:</a:t>
            </a:r>
          </a:p>
          <a:p>
            <a:pPr lvl="1"/>
            <a:r>
              <a:rPr lang="en" sz="1800" dirty="0"/>
              <a:t>Usually runs slowly</a:t>
            </a:r>
          </a:p>
          <a:p>
            <a:pPr lvl="1"/>
            <a:r>
              <a:rPr lang="en" sz="1800" dirty="0"/>
              <a:t>Mappers write intermediate data to disk before transferring it over the network</a:t>
            </a:r>
          </a:p>
          <a:p>
            <a:pPr lvl="1"/>
            <a:r>
              <a:rPr lang="en" sz="1800" dirty="0"/>
              <a:t>No query optimization</a:t>
            </a:r>
          </a:p>
          <a:p>
            <a:pPr lvl="1"/>
            <a:r>
              <a:rPr lang="en" sz="1800" dirty="0"/>
              <a:t>Sequential jobs must interact with HDFS — bad for iterative tasks</a:t>
            </a:r>
          </a:p>
          <a:p>
            <a:pPr lvl="1"/>
            <a:r>
              <a:rPr lang="en" sz="1800" dirty="0"/>
              <a:t>Not interactive</a:t>
            </a:r>
          </a:p>
          <a:p>
            <a:pPr lvl="1"/>
            <a:r>
              <a:rPr lang="en" sz="1800" dirty="0"/>
              <a:t>Hard to create complex pipelines</a:t>
            </a:r>
            <a:endParaRPr lang="ru-RU" sz="16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03FE214-A020-6F16-8764-9A28CE506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1920" y="4492978"/>
            <a:ext cx="4840111" cy="21833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0811A3C-1014-FC16-5A24-525B34D11787}"/>
              </a:ext>
            </a:extLst>
          </p:cNvPr>
          <p:cNvSpPr txBox="1"/>
          <p:nvPr/>
        </p:nvSpPr>
        <p:spPr>
          <a:xfrm>
            <a:off x="6513688" y="1535547"/>
            <a:ext cx="484011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/>
              <a:t>Spark:</a:t>
            </a:r>
            <a:endParaRPr lang="e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sz="1800" dirty="0"/>
              <a:t>Usually runs much faster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sz="1800" dirty="0"/>
              <a:t>Stores intermediate results in RAM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" sz="1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sz="1800" dirty="0"/>
              <a:t>Optimizes queries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sz="1800" dirty="0"/>
              <a:t>Not tied to HDFS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dirty="0"/>
              <a:t>Can be used interactively</a:t>
            </a:r>
            <a:endParaRPr lang="en" sz="1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sz="1800" dirty="0"/>
              <a:t>Easy to program on</a:t>
            </a:r>
            <a:endParaRPr lang="ru-RU" sz="16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AC8384F-6373-2CAA-25B8-A2B823431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567" y="4868057"/>
            <a:ext cx="2847696" cy="125253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9C2E284-55DB-8171-28DD-725587FE41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4263" y="4495778"/>
            <a:ext cx="3222000" cy="2096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029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AD745E-FD66-E529-17AE-28B4F7225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vs MapReduce</a:t>
            </a:r>
            <a:endParaRPr lang="ru-RU" dirty="0"/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5CB56061-7FF6-D135-6B64-2F3C5BC65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720" y="1836465"/>
            <a:ext cx="7535693" cy="46564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" sz="2400" dirty="0"/>
              <a:t>To solve both types of problems, one thing is needed that MapReduce lacks:</a:t>
            </a:r>
          </a:p>
          <a:p>
            <a:pPr marL="0" indent="0">
              <a:buNone/>
            </a:pPr>
            <a:endParaRPr lang="en" dirty="0"/>
          </a:p>
          <a:p>
            <a:pPr lvl="1"/>
            <a:r>
              <a:rPr lang="en" dirty="0"/>
              <a:t>Efficient primitives for data sharing</a:t>
            </a:r>
          </a:p>
          <a:p>
            <a:pPr lvl="1"/>
            <a:endParaRPr lang="en" dirty="0"/>
          </a:p>
          <a:p>
            <a:pPr lvl="1"/>
            <a:r>
              <a:rPr lang="en" dirty="0"/>
              <a:t>In MapReduce, the only way to share data between jobs is through stable storage</a:t>
            </a:r>
          </a:p>
          <a:p>
            <a:pPr lvl="1"/>
            <a:endParaRPr lang="en" dirty="0"/>
          </a:p>
          <a:p>
            <a:pPr lvl="1"/>
            <a:r>
              <a:rPr lang="en" dirty="0"/>
              <a:t>Replication also slows down the system, but it’s necessary to ensure fault tolerance</a:t>
            </a:r>
          </a:p>
        </p:txBody>
      </p:sp>
    </p:spTree>
    <p:extLst>
      <p:ext uri="{BB962C8B-B14F-4D97-AF65-F5344CB8AC3E}">
        <p14:creationId xmlns:p14="http://schemas.microsoft.com/office/powerpoint/2010/main" val="1399227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AD745E-FD66-E529-17AE-28B4F7225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 vs Spark. Sequential Jobs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E2C327C-37EE-B854-3843-23A3FDDC4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154" y="1930612"/>
            <a:ext cx="8873067" cy="357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3317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AD745E-FD66-E529-17AE-28B4F7225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 vs Spark. Multiple Jobs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8B7A20A-B8FB-F7F0-A11B-F2F1DE5E9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293" y="2551287"/>
            <a:ext cx="4697943" cy="272344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C90E5C0-02AC-BB28-7685-4DBA5FD7B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2906" y="2472264"/>
            <a:ext cx="5849423" cy="2881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167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AD745E-FD66-E529-17AE-28B4F7225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Outline</a:t>
            </a:r>
            <a:endParaRPr lang="ru-RU" dirty="0"/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5CB56061-7FF6-D135-6B64-2F3C5BC65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731" y="1690688"/>
            <a:ext cx="7705747" cy="465640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" sz="2000" dirty="0"/>
              <a:t>History:</a:t>
            </a:r>
          </a:p>
          <a:p>
            <a:pPr lvl="1"/>
            <a:r>
              <a:rPr lang="en" sz="2000" dirty="0"/>
              <a:t>Developed at UC Berkeley’s </a:t>
            </a:r>
            <a:r>
              <a:rPr lang="en" sz="2000" dirty="0" err="1"/>
              <a:t>AMPLab</a:t>
            </a:r>
            <a:r>
              <a:rPr lang="en" sz="2000" dirty="0"/>
              <a:t> in 2009</a:t>
            </a:r>
          </a:p>
          <a:p>
            <a:pPr lvl="1"/>
            <a:r>
              <a:rPr lang="en" sz="2000" dirty="0"/>
              <a:t>Became a top-level Apache project</a:t>
            </a:r>
          </a:p>
          <a:p>
            <a:pPr lvl="1"/>
            <a:r>
              <a:rPr lang="en" sz="2000" dirty="0">
                <a:hlinkClick r:id="rId2"/>
              </a:rPr>
              <a:t>http://spark.apache.org/</a:t>
            </a:r>
            <a:endParaRPr lang="en" sz="2000" dirty="0"/>
          </a:p>
          <a:p>
            <a:pPr marL="0" indent="0">
              <a:buNone/>
            </a:pPr>
            <a:r>
              <a:rPr lang="en" sz="2000" dirty="0"/>
              <a:t>Easy:</a:t>
            </a:r>
          </a:p>
          <a:p>
            <a:pPr lvl="1"/>
            <a:r>
              <a:rPr lang="en" sz="2000" dirty="0"/>
              <a:t>Easy to write applications in Java, Scala, R, and Python</a:t>
            </a:r>
            <a:endParaRPr lang="ru-RU" sz="2000" dirty="0"/>
          </a:p>
          <a:p>
            <a:pPr lvl="1"/>
            <a:r>
              <a:rPr lang="en-US" sz="2000" dirty="0"/>
              <a:t>Supports various data types</a:t>
            </a:r>
            <a:endParaRPr lang="en" sz="2000" dirty="0"/>
          </a:p>
          <a:p>
            <a:pPr marL="0" indent="0">
              <a:buNone/>
            </a:pPr>
            <a:r>
              <a:rPr lang="en" sz="2000" dirty="0"/>
              <a:t>Generality:</a:t>
            </a:r>
          </a:p>
          <a:p>
            <a:pPr lvl="1"/>
            <a:r>
              <a:rPr lang="en" sz="2000" dirty="0"/>
              <a:t>Combines SQL, streaming, and complex analytics within a single application</a:t>
            </a:r>
          </a:p>
          <a:p>
            <a:pPr lvl="1"/>
            <a:r>
              <a:rPr lang="en" sz="2000" dirty="0"/>
              <a:t>Spark SQL, </a:t>
            </a:r>
            <a:r>
              <a:rPr lang="en" sz="2000" dirty="0" err="1"/>
              <a:t>MLlib</a:t>
            </a:r>
            <a:r>
              <a:rPr lang="en" sz="2000" dirty="0"/>
              <a:t>, </a:t>
            </a:r>
            <a:r>
              <a:rPr lang="en" sz="2000" dirty="0" err="1"/>
              <a:t>GraphX</a:t>
            </a:r>
            <a:r>
              <a:rPr lang="en" sz="2000" dirty="0"/>
              <a:t>, and Spark Streaming</a:t>
            </a:r>
          </a:p>
          <a:p>
            <a:pPr marL="0" indent="0">
              <a:buNone/>
            </a:pPr>
            <a:r>
              <a:rPr lang="en" sz="2000" dirty="0"/>
              <a:t>Runs anywhere:</a:t>
            </a:r>
          </a:p>
          <a:p>
            <a:pPr lvl="1"/>
            <a:r>
              <a:rPr lang="en" sz="2000" dirty="0"/>
              <a:t>Hadoop, Mesos, standalone, or in the cloud</a:t>
            </a:r>
          </a:p>
          <a:p>
            <a:pPr lvl="1"/>
            <a:r>
              <a:rPr lang="en" sz="2000" dirty="0"/>
              <a:t>Accesses data from various sources (HDFS, Cassandra, HBase, S3)</a:t>
            </a:r>
          </a:p>
          <a:p>
            <a:pPr lvl="1"/>
            <a:endParaRPr lang="en" sz="20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9637F76-AE62-1ABF-687E-98FEFCB20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3467" y="2257777"/>
            <a:ext cx="3381802" cy="309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380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AD745E-FD66-E529-17AE-28B4F7225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Components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0FD7E63-BE49-01D1-4415-B1F7AD4D3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006" y="2188263"/>
            <a:ext cx="9343987" cy="382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605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AD745E-FD66-E529-17AE-28B4F7225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Architecture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6410075-C147-B23B-AE60-E9B96AE35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8047" y="2308006"/>
            <a:ext cx="6540500" cy="3289300"/>
          </a:xfrm>
          <a:prstGeom prst="rect">
            <a:avLst/>
          </a:prstGeom>
        </p:spPr>
      </p:pic>
      <p:sp>
        <p:nvSpPr>
          <p:cNvPr id="7" name="Объект 2">
            <a:extLst>
              <a:ext uri="{FF2B5EF4-FFF2-40B4-BE49-F238E27FC236}">
                <a16:creationId xmlns:a16="http://schemas.microsoft.com/office/drawing/2014/main" id="{F251AE3F-43CF-EC51-B576-644D43635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709" y="1556985"/>
            <a:ext cx="4821316" cy="49358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" sz="2400" dirty="0"/>
              <a:t>Application:</a:t>
            </a:r>
          </a:p>
          <a:p>
            <a:pPr lvl="1"/>
            <a:r>
              <a:rPr lang="en" sz="2000" dirty="0"/>
              <a:t>A user application written in Spark. Consists of a driver and executors.</a:t>
            </a:r>
          </a:p>
          <a:p>
            <a:pPr marL="0" indent="0">
              <a:buNone/>
            </a:pPr>
            <a:r>
              <a:rPr lang="en" sz="2400" dirty="0"/>
              <a:t>Driver program:</a:t>
            </a:r>
          </a:p>
          <a:p>
            <a:pPr lvl="1"/>
            <a:r>
              <a:rPr lang="en" sz="2000" dirty="0"/>
              <a:t>The program containing the </a:t>
            </a:r>
            <a:r>
              <a:rPr lang="en" sz="2000" i="1" dirty="0"/>
              <a:t>main() </a:t>
            </a:r>
            <a:r>
              <a:rPr lang="en" sz="2000" dirty="0"/>
              <a:t>function that creates and runs the </a:t>
            </a:r>
            <a:r>
              <a:rPr lang="en" sz="2000" i="1" dirty="0" err="1"/>
              <a:t>SparkContext</a:t>
            </a:r>
            <a:r>
              <a:rPr lang="en" sz="2000" dirty="0"/>
              <a:t>.</a:t>
            </a:r>
          </a:p>
          <a:p>
            <a:pPr marL="0" indent="0">
              <a:buNone/>
            </a:pPr>
            <a:r>
              <a:rPr lang="en" sz="2400" dirty="0"/>
              <a:t>Deploy mode:</a:t>
            </a:r>
          </a:p>
          <a:p>
            <a:pPr lvl="1"/>
            <a:r>
              <a:rPr lang="en" sz="2000" dirty="0"/>
              <a:t>In </a:t>
            </a:r>
            <a:r>
              <a:rPr lang="en" sz="2000" i="1" dirty="0"/>
              <a:t>cluster</a:t>
            </a:r>
            <a:r>
              <a:rPr lang="en" sz="2000" dirty="0"/>
              <a:t> mode, the driver runs inside the cluster. In </a:t>
            </a:r>
            <a:r>
              <a:rPr lang="en" sz="2000" i="1" dirty="0"/>
              <a:t>client</a:t>
            </a:r>
            <a:r>
              <a:rPr lang="en" sz="2000" dirty="0"/>
              <a:t> mode, the driver runs outside the cluster.</a:t>
            </a:r>
          </a:p>
          <a:p>
            <a:pPr marL="0" indent="0">
              <a:buNone/>
            </a:pPr>
            <a:r>
              <a:rPr lang="en" sz="2400" dirty="0"/>
              <a:t>Executor:</a:t>
            </a:r>
          </a:p>
          <a:p>
            <a:pPr lvl="1"/>
            <a:r>
              <a:rPr lang="en" sz="2000" dirty="0"/>
              <a:t>A process launched on a worker node to execute the application.</a:t>
            </a:r>
          </a:p>
        </p:txBody>
      </p:sp>
    </p:spTree>
    <p:extLst>
      <p:ext uri="{BB962C8B-B14F-4D97-AF65-F5344CB8AC3E}">
        <p14:creationId xmlns:p14="http://schemas.microsoft.com/office/powerpoint/2010/main" val="2545694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AD745E-FD66-E529-17AE-28B4F7225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Workflow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CC125C-9C12-DC86-1ED3-6E8C612D6D93}"/>
              </a:ext>
            </a:extLst>
          </p:cNvPr>
          <p:cNvSpPr txBox="1"/>
          <p:nvPr/>
        </p:nvSpPr>
        <p:spPr>
          <a:xfrm>
            <a:off x="519289" y="1887009"/>
            <a:ext cx="6005689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400" dirty="0"/>
              <a:t>Driver:</a:t>
            </a:r>
            <a:endParaRPr lang="en" sz="2000" dirty="0"/>
          </a:p>
          <a:p>
            <a:pPr marL="800100" lvl="1" indent="-342900">
              <a:buFont typeface="+mj-lt"/>
              <a:buAutoNum type="arabicPeriod"/>
            </a:pPr>
            <a:r>
              <a:rPr lang="en" sz="2000" dirty="0"/>
              <a:t>Initializes the application</a:t>
            </a:r>
          </a:p>
          <a:p>
            <a:pPr marL="800100" lvl="1" indent="-342900">
              <a:buFont typeface="+mj-lt"/>
              <a:buAutoNum type="arabicPeriod"/>
            </a:pPr>
            <a:r>
              <a:rPr lang="en" sz="2000" dirty="0"/>
              <a:t>Requests resources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" sz="2000" dirty="0"/>
              <a:t>Builds the physical plan</a:t>
            </a:r>
          </a:p>
          <a:p>
            <a:pPr marL="800100" lvl="1" indent="-342900">
              <a:buFont typeface="+mj-lt"/>
              <a:buAutoNum type="arabicPeriod"/>
            </a:pPr>
            <a:r>
              <a:rPr lang="en" sz="2000" dirty="0"/>
              <a:t>Sends serialized task code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" sz="2000" dirty="0"/>
              <a:t>Monitors task execution</a:t>
            </a:r>
          </a:p>
          <a:p>
            <a:pPr marL="800100" lvl="1" indent="-342900">
              <a:buFont typeface="+mj-lt"/>
              <a:buAutoNum type="arabicPeriod"/>
            </a:pPr>
            <a:r>
              <a:rPr lang="en" sz="2000" dirty="0"/>
              <a:t>Finalizes the application</a:t>
            </a:r>
          </a:p>
          <a:p>
            <a:pPr marL="800100" lvl="1" indent="-342900">
              <a:buFont typeface="+mj-lt"/>
              <a:buAutoNum type="arabicPeriod"/>
            </a:pPr>
            <a:r>
              <a:rPr lang="en" sz="2000" dirty="0"/>
              <a:t>Requests resource release</a:t>
            </a:r>
          </a:p>
          <a:p>
            <a:pPr marL="800100" lvl="1" indent="-342900">
              <a:buFont typeface="+mj-lt"/>
              <a:buAutoNum type="arabicPeriod"/>
            </a:pPr>
            <a:endParaRPr lang="en" sz="2000" dirty="0"/>
          </a:p>
          <a:p>
            <a:r>
              <a:rPr lang="en" sz="2400" dirty="0"/>
              <a:t>Executors:</a:t>
            </a:r>
            <a:endParaRPr lang="en" sz="2000" dirty="0"/>
          </a:p>
          <a:p>
            <a:pPr marL="800100" lvl="1" indent="-342900">
              <a:buFont typeface="+mj-lt"/>
              <a:buAutoNum type="arabicPeriod"/>
            </a:pPr>
            <a:r>
              <a:rPr lang="en" sz="2000" dirty="0"/>
              <a:t>Receive specific tasks from the driver</a:t>
            </a:r>
          </a:p>
          <a:p>
            <a:pPr marL="800100" lvl="1" indent="-342900">
              <a:buFont typeface="+mj-lt"/>
              <a:buAutoNum type="arabicPeriod"/>
            </a:pPr>
            <a:r>
              <a:rPr lang="en" sz="2000" dirty="0"/>
              <a:t>Send execution status back to the driver</a:t>
            </a:r>
          </a:p>
          <a:p>
            <a:pPr marL="800100" lvl="1" indent="-342900">
              <a:buFont typeface="+mj-lt"/>
              <a:buAutoNum type="arabicPeriod"/>
            </a:pPr>
            <a:r>
              <a:rPr lang="en" sz="2000" dirty="0"/>
              <a:t>Terminate execution upon the driver’s command</a:t>
            </a:r>
          </a:p>
        </p:txBody>
      </p:sp>
      <p:pic>
        <p:nvPicPr>
          <p:cNvPr id="6146" name="Picture 2" descr="Настройка параметров Spark для Azure HDInsight | Microsoft Learn">
            <a:extLst>
              <a:ext uri="{FF2B5EF4-FFF2-40B4-BE49-F238E27FC236}">
                <a16:creationId xmlns:a16="http://schemas.microsoft.com/office/drawing/2014/main" id="{89ED1548-3A9E-35C3-10AC-C3C3123D1C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8199" y="1438099"/>
            <a:ext cx="5853801" cy="4124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26D8CFFD-A52C-77C0-308E-CE2556DD9E09}"/>
              </a:ext>
            </a:extLst>
          </p:cNvPr>
          <p:cNvSpPr/>
          <p:nvPr/>
        </p:nvSpPr>
        <p:spPr>
          <a:xfrm>
            <a:off x="8700653" y="1853142"/>
            <a:ext cx="1120680" cy="39839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tx1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0889B6-A549-3219-21CD-B9F2940505FF}"/>
              </a:ext>
            </a:extLst>
          </p:cNvPr>
          <p:cNvSpPr txBox="1"/>
          <p:nvPr/>
        </p:nvSpPr>
        <p:spPr>
          <a:xfrm>
            <a:off x="8761497" y="1913841"/>
            <a:ext cx="9989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SparkSession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877255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AD745E-FD66-E529-17AE-28B4F7225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SparkSession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B2B009-00E1-2295-B315-FB5549A385CD}"/>
              </a:ext>
            </a:extLst>
          </p:cNvPr>
          <p:cNvSpPr txBox="1"/>
          <p:nvPr/>
        </p:nvSpPr>
        <p:spPr>
          <a:xfrm>
            <a:off x="312632" y="1892653"/>
            <a:ext cx="6167190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400" dirty="0"/>
              <a:t>Unified Entry Point: 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sz="2000" dirty="0"/>
              <a:t>A single point of interaction for various Spark APIs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" sz="2000" dirty="0"/>
          </a:p>
          <a:p>
            <a:r>
              <a:rPr lang="en" sz="2400" dirty="0"/>
              <a:t>Configuration Management: 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sz="2000" dirty="0"/>
              <a:t>Allows for the configuration of Spark properties, such as application name, master URL, and memory settings.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85D6815-DF65-04EF-7D6B-AF39CF3F1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0" y="4464497"/>
            <a:ext cx="7112000" cy="18542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A2DB568-B6E4-0127-4A5C-544DC4BE8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688" y="2317421"/>
            <a:ext cx="4920680" cy="1520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89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AD745E-FD66-E529-17AE-28B4F7225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Runtime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853C391-AAE1-9FC4-F8F1-B112F35E2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377603"/>
            <a:ext cx="5894842" cy="163745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B6DFCA4-7F3E-8064-926E-E7D5F1050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900" y="2103437"/>
            <a:ext cx="5509108" cy="15264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52A361F-8F8C-8DF9-CD0B-B41B5059B43B}"/>
              </a:ext>
            </a:extLst>
          </p:cNvPr>
          <p:cNvSpPr txBox="1"/>
          <p:nvPr/>
        </p:nvSpPr>
        <p:spPr>
          <a:xfrm>
            <a:off x="684647" y="1537672"/>
            <a:ext cx="5195454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2400" dirty="0"/>
              <a:t>Task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sz="2000" dirty="0"/>
              <a:t>The smallest unit of work that will be sent to an executor</a:t>
            </a:r>
          </a:p>
          <a:p>
            <a:r>
              <a:rPr lang="en" sz="2400" dirty="0"/>
              <a:t>Job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sz="2000" dirty="0"/>
              <a:t>A parallel computation consisting of multiple stages, triggered by an </a:t>
            </a:r>
            <a:r>
              <a:rPr lang="en" sz="2000" i="1" dirty="0"/>
              <a:t>action</a:t>
            </a:r>
            <a:r>
              <a:rPr lang="en" sz="2000" dirty="0"/>
              <a:t> in Spark (e.g., save, collect)</a:t>
            </a:r>
          </a:p>
          <a:p>
            <a:r>
              <a:rPr lang="en" sz="2400" dirty="0"/>
              <a:t>Stage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sz="2000" dirty="0"/>
              <a:t>A set of tasks into which each job is divided (similar to Map and Reduce phases in MapReduce)</a:t>
            </a:r>
          </a:p>
          <a:p>
            <a:r>
              <a:rPr lang="en" sz="2400" dirty="0"/>
              <a:t>Driver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sz="2000" dirty="0"/>
              <a:t>Coordinates execution, schedules jobs, and manages task distribution</a:t>
            </a: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41775006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AD745E-FD66-E529-17AE-28B4F7225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External Processes</a:t>
            </a:r>
            <a:endParaRPr lang="ru-RU" dirty="0"/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49C99819-3770-E8BF-2ECB-07BD2CF1CD59}"/>
              </a:ext>
            </a:extLst>
          </p:cNvPr>
          <p:cNvGrpSpPr/>
          <p:nvPr/>
        </p:nvGrpSpPr>
        <p:grpSpPr>
          <a:xfrm>
            <a:off x="1682750" y="4114800"/>
            <a:ext cx="8826500" cy="2743200"/>
            <a:chOff x="1682750" y="3422073"/>
            <a:chExt cx="8826500" cy="2743200"/>
          </a:xfrm>
        </p:grpSpPr>
        <p:pic>
          <p:nvPicPr>
            <p:cNvPr id="4" name="Рисунок 3">
              <a:extLst>
                <a:ext uri="{FF2B5EF4-FFF2-40B4-BE49-F238E27FC236}">
                  <a16:creationId xmlns:a16="http://schemas.microsoft.com/office/drawing/2014/main" id="{BA81B18D-F502-4887-C62D-D766D58821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82750" y="3422073"/>
              <a:ext cx="8826500" cy="2743200"/>
            </a:xfrm>
            <a:prstGeom prst="rect">
              <a:avLst/>
            </a:prstGeom>
          </p:spPr>
        </p:pic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A1F0885F-21A0-4939-43EB-3EE0F34E7748}"/>
                </a:ext>
              </a:extLst>
            </p:cNvPr>
            <p:cNvSpPr/>
            <p:nvPr/>
          </p:nvSpPr>
          <p:spPr>
            <a:xfrm>
              <a:off x="7873612" y="4229974"/>
              <a:ext cx="1912562" cy="314106"/>
            </a:xfrm>
            <a:prstGeom prst="rect">
              <a:avLst/>
            </a:prstGeom>
            <a:solidFill>
              <a:srgbClr val="88ED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Python Process</a:t>
              </a:r>
              <a:endParaRPr lang="ru-RU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BEDE2F04-8E05-F4ED-53EC-0C836130342E}"/>
              </a:ext>
            </a:extLst>
          </p:cNvPr>
          <p:cNvSpPr txBox="1"/>
          <p:nvPr/>
        </p:nvSpPr>
        <p:spPr>
          <a:xfrm>
            <a:off x="838201" y="1558167"/>
            <a:ext cx="633122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Spark supports Java and Scala natively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Python and R communicates with the JVM to transfer data:</a:t>
            </a:r>
          </a:p>
          <a:p>
            <a:pPr marL="800100" lvl="1" indent="-342900">
              <a:buFontTx/>
              <a:buChar char="-"/>
            </a:pPr>
            <a:r>
              <a:rPr lang="en-US" sz="2400" dirty="0"/>
              <a:t>Slow for User Defined Functions</a:t>
            </a:r>
          </a:p>
          <a:p>
            <a:pPr marL="800100" lvl="1" indent="-342900">
              <a:buFontTx/>
              <a:buChar char="-"/>
            </a:pPr>
            <a:r>
              <a:rPr lang="en-US" sz="2400" dirty="0"/>
              <a:t>Slow for large </a:t>
            </a:r>
            <a:r>
              <a:rPr lang="en-US" sz="2400" i="1" dirty="0"/>
              <a:t>actions</a:t>
            </a:r>
            <a:r>
              <a:rPr lang="en-US" sz="2400" dirty="0"/>
              <a:t> outputs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7407871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AD745E-FD66-E529-17AE-28B4F7225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Spark. RDD API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51A613B-6068-DA3B-8BBF-D3F29C9C1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649" y="1905000"/>
            <a:ext cx="9296702" cy="384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0411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AD745E-FD66-E529-17AE-28B4F7225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Spark. RDD API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23C825-7FDF-E2B4-88E1-7302FC42F1CA}"/>
              </a:ext>
            </a:extLst>
          </p:cNvPr>
          <p:cNvSpPr txBox="1"/>
          <p:nvPr/>
        </p:nvSpPr>
        <p:spPr>
          <a:xfrm>
            <a:off x="742122" y="1591642"/>
            <a:ext cx="812358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400" b="1" dirty="0"/>
              <a:t>RDD (Resilient Distributed Dataset)</a:t>
            </a:r>
            <a:r>
              <a:rPr lang="en" sz="2400" dirty="0"/>
              <a:t> — an </a:t>
            </a:r>
            <a:r>
              <a:rPr lang="en" sz="2400" b="1" dirty="0"/>
              <a:t>immutable</a:t>
            </a:r>
            <a:r>
              <a:rPr lang="en" sz="2400" dirty="0"/>
              <a:t> distributed collection of objects</a:t>
            </a:r>
          </a:p>
          <a:p>
            <a:endParaRPr lang="en" sz="2000" dirty="0"/>
          </a:p>
          <a:p>
            <a:r>
              <a:rPr lang="en" sz="2400" dirty="0"/>
              <a:t>It has three key characteristics:</a:t>
            </a:r>
          </a:p>
          <a:p>
            <a:pPr>
              <a:buFont typeface="+mj-lt"/>
              <a:buAutoNum type="arabicPeriod"/>
            </a:pPr>
            <a:r>
              <a:rPr lang="en" sz="2400" dirty="0"/>
              <a:t> Dependencies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sz="2000" dirty="0"/>
              <a:t>Tracks how this RDD depends on other RDDs for fault tolerance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sz="2000" dirty="0"/>
              <a:t>Stores </a:t>
            </a:r>
            <a:r>
              <a:rPr lang="en" sz="2000" b="1" dirty="0"/>
              <a:t>Lineage Graph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" sz="2000" b="1" dirty="0"/>
          </a:p>
          <a:p>
            <a:pPr>
              <a:buFont typeface="+mj-lt"/>
              <a:buAutoNum type="arabicPeriod"/>
            </a:pPr>
            <a:r>
              <a:rPr lang="en" sz="2400" dirty="0"/>
              <a:t> Partitions (with some locality information)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sz="2000" dirty="0"/>
              <a:t>Can create distributed collections from local FS, HDFS, Cassandra, HBase, Amazon S3, etc.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sz="2000" dirty="0"/>
              <a:t>Can be stored on different nodes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" sz="2000" dirty="0"/>
          </a:p>
          <a:p>
            <a:pPr>
              <a:buFont typeface="+mj-lt"/>
              <a:buAutoNum type="arabicPeriod"/>
            </a:pPr>
            <a:r>
              <a:rPr lang="en" sz="2400" dirty="0"/>
              <a:t> Compute function: Partition =&gt; Iterator[T]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sz="2000" dirty="0"/>
              <a:t>Spark supports text files, </a:t>
            </a:r>
            <a:r>
              <a:rPr lang="en" sz="2000" dirty="0" err="1"/>
              <a:t>SequenceFiles</a:t>
            </a:r>
            <a:r>
              <a:rPr lang="en" sz="2000" dirty="0"/>
              <a:t>, Hadoop </a:t>
            </a:r>
            <a:r>
              <a:rPr lang="en" sz="2000" dirty="0" err="1"/>
              <a:t>InputFormats</a:t>
            </a:r>
            <a:r>
              <a:rPr lang="en" sz="2000" dirty="0"/>
              <a:t>, …</a:t>
            </a:r>
          </a:p>
        </p:txBody>
      </p:sp>
    </p:spTree>
    <p:extLst>
      <p:ext uri="{BB962C8B-B14F-4D97-AF65-F5344CB8AC3E}">
        <p14:creationId xmlns:p14="http://schemas.microsoft.com/office/powerpoint/2010/main" val="5192498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AD745E-FD66-E529-17AE-28B4F7225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Spark. Programming Model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E013FA-823D-6CF5-BA33-76A1DE07D5D0}"/>
              </a:ext>
            </a:extLst>
          </p:cNvPr>
          <p:cNvSpPr txBox="1"/>
          <p:nvPr/>
        </p:nvSpPr>
        <p:spPr>
          <a:xfrm>
            <a:off x="508000" y="1976944"/>
            <a:ext cx="76327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Based on </a:t>
            </a:r>
            <a:r>
              <a:rPr lang="en" sz="2400" b="1" dirty="0"/>
              <a:t>parallelizable operators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These operators are higher-order functions that execute user-defined functions in parallel.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A data processing pipeline consists of any number of </a:t>
            </a:r>
            <a:r>
              <a:rPr lang="en" sz="2400" b="1" dirty="0"/>
              <a:t>data sources, operators, and data sinks </a:t>
            </a:r>
            <a:r>
              <a:rPr lang="en" sz="2400" dirty="0"/>
              <a:t>by connecting the outputs of some operations to the inputs of others.</a:t>
            </a:r>
          </a:p>
        </p:txBody>
      </p:sp>
    </p:spTree>
    <p:extLst>
      <p:ext uri="{BB962C8B-B14F-4D97-AF65-F5344CB8AC3E}">
        <p14:creationId xmlns:p14="http://schemas.microsoft.com/office/powerpoint/2010/main" val="8876139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AD745E-FD66-E529-17AE-28B4F7225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Spark. DAG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BA3803C-66F6-C042-B03B-068C81A9E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5288" y="2374901"/>
            <a:ext cx="6358622" cy="25848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303F44C-A903-05CB-E43B-2FCAD1410501}"/>
              </a:ext>
            </a:extLst>
          </p:cNvPr>
          <p:cNvSpPr txBox="1"/>
          <p:nvPr/>
        </p:nvSpPr>
        <p:spPr>
          <a:xfrm>
            <a:off x="355600" y="1528415"/>
            <a:ext cx="52197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task is defined using the </a:t>
            </a:r>
            <a:r>
              <a:rPr lang="en-US" sz="2400" b="1" dirty="0"/>
              <a:t>directed acyclic graphs (DAG)</a:t>
            </a:r>
            <a:r>
              <a:rPr lang="en-US" sz="2400" dirty="0"/>
              <a:t>: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Vertices represent RDDs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Edges represent the operation to be applied to the RDD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Each edge points from an earlier to a later stage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DAG scheduler splits the graph into stages and tasks</a:t>
            </a:r>
            <a:endParaRPr lang="en-US" sz="2400" dirty="0"/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5025749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AD745E-FD66-E529-17AE-28B4F7225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Spark. High-Order Functions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03F44C-A903-05CB-E43B-2FCAD1410501}"/>
              </a:ext>
            </a:extLst>
          </p:cNvPr>
          <p:cNvSpPr txBox="1"/>
          <p:nvPr/>
        </p:nvSpPr>
        <p:spPr>
          <a:xfrm>
            <a:off x="749300" y="1519625"/>
            <a:ext cx="5181600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2400" dirty="0"/>
              <a:t>There are two types of operators: </a:t>
            </a:r>
          </a:p>
          <a:p>
            <a:r>
              <a:rPr lang="en" sz="2400" b="1" dirty="0"/>
              <a:t>	transformations</a:t>
            </a:r>
            <a:r>
              <a:rPr lang="en" sz="2400" dirty="0"/>
              <a:t> and </a:t>
            </a:r>
            <a:r>
              <a:rPr lang="en" sz="2400" b="1" dirty="0"/>
              <a:t>actions.</a:t>
            </a:r>
          </a:p>
          <a:p>
            <a:endParaRPr lang="en" sz="2000" dirty="0"/>
          </a:p>
          <a:p>
            <a:r>
              <a:rPr lang="en" sz="2400" dirty="0"/>
              <a:t>Transformations: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sz="2000" dirty="0"/>
              <a:t>Lazy operators that create new RDDs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sz="2000" dirty="0"/>
              <a:t>Perform transformations of the form </a:t>
            </a:r>
            <a:r>
              <a:rPr lang="en" sz="2000" b="1" dirty="0"/>
              <a:t>RDD → RDD</a:t>
            </a:r>
            <a:endParaRPr lang="e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" sz="2000" dirty="0"/>
          </a:p>
          <a:p>
            <a:r>
              <a:rPr lang="en" sz="2400" dirty="0"/>
              <a:t>Actions: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sz="2000" dirty="0"/>
              <a:t>Trigger computation and return results to the program or write data to external storage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sz="2000" dirty="0"/>
              <a:t>Performs transformations of the form </a:t>
            </a:r>
            <a:r>
              <a:rPr lang="en" sz="2000" b="1" dirty="0"/>
              <a:t>RDD → actual data</a:t>
            </a:r>
            <a:endParaRPr lang="en" sz="2000" dirty="0"/>
          </a:p>
        </p:txBody>
      </p:sp>
      <p:pic>
        <p:nvPicPr>
          <p:cNvPr id="24580" name="Picture 4" descr="25: Transformation and Action in Apache Spark">
            <a:extLst>
              <a:ext uri="{FF2B5EF4-FFF2-40B4-BE49-F238E27FC236}">
                <a16:creationId xmlns:a16="http://schemas.microsoft.com/office/drawing/2014/main" id="{0A84FFBD-9139-53AB-078A-F819589A33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6400" y="1690688"/>
            <a:ext cx="5080000" cy="430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78655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AD745E-FD66-E529-17AE-28B4F7225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Spark. Lazy Evaluation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03F44C-A903-05CB-E43B-2FCAD1410501}"/>
              </a:ext>
            </a:extLst>
          </p:cNvPr>
          <p:cNvSpPr txBox="1"/>
          <p:nvPr/>
        </p:nvSpPr>
        <p:spPr>
          <a:xfrm>
            <a:off x="711200" y="2277715"/>
            <a:ext cx="78867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2400" dirty="0"/>
              <a:t>The Spark programming model is based on </a:t>
            </a:r>
            <a:r>
              <a:rPr lang="en" sz="2400" b="1" dirty="0"/>
              <a:t>lazy evaluation:</a:t>
            </a:r>
            <a:endParaRPr lang="en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sz="2400" dirty="0"/>
              <a:t>At the moment of job execution, </a:t>
            </a:r>
            <a:r>
              <a:rPr lang="en" sz="2400" b="1" dirty="0"/>
              <a:t>transformations</a:t>
            </a:r>
            <a:r>
              <a:rPr lang="en" sz="2400" dirty="0"/>
              <a:t> on a specific RDD are not performed until at least one </a:t>
            </a:r>
            <a:r>
              <a:rPr lang="en" sz="2400" b="1" dirty="0"/>
              <a:t>action</a:t>
            </a:r>
            <a:r>
              <a:rPr lang="en" sz="2400" dirty="0"/>
              <a:t> is called on it</a:t>
            </a:r>
          </a:p>
          <a:p>
            <a:endParaRPr lang="en" sz="2400" dirty="0"/>
          </a:p>
          <a:p>
            <a:r>
              <a:rPr lang="en" sz="2400" dirty="0"/>
              <a:t>Spark doesn’t store results of the transformations by default: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sz="2400" dirty="0"/>
              <a:t>Use transformations </a:t>
            </a:r>
            <a:r>
              <a:rPr lang="en" sz="2400" i="1" dirty="0"/>
              <a:t>cache() </a:t>
            </a:r>
            <a:r>
              <a:rPr lang="en" sz="2400" dirty="0"/>
              <a:t>or </a:t>
            </a:r>
            <a:r>
              <a:rPr lang="en" sz="2400" i="1" dirty="0"/>
              <a:t>persist() </a:t>
            </a:r>
            <a:r>
              <a:rPr lang="en" sz="2400" dirty="0"/>
              <a:t>to store the data in memory or on disk after it's computed</a:t>
            </a:r>
          </a:p>
          <a:p>
            <a:r>
              <a:rPr lang="en" sz="24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9234781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AD745E-FD66-E529-17AE-28B4F7225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RDD API. Wide &amp; Narrow Transformations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0B197D4-591E-8E20-440C-F20F0A3D1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400" y="2068830"/>
            <a:ext cx="6108700" cy="38762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1C35ADC-B4D4-198F-733D-CA59157E874A}"/>
              </a:ext>
            </a:extLst>
          </p:cNvPr>
          <p:cNvSpPr txBox="1"/>
          <p:nvPr/>
        </p:nvSpPr>
        <p:spPr>
          <a:xfrm>
            <a:off x="342900" y="1814830"/>
            <a:ext cx="4902200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000" dirty="0"/>
              <a:t>There are two types of dependencies between RDDs:</a:t>
            </a:r>
          </a:p>
          <a:p>
            <a:endParaRPr lang="en" sz="2000" dirty="0"/>
          </a:p>
          <a:p>
            <a:r>
              <a:rPr lang="en" sz="2000" dirty="0"/>
              <a:t>Narrow dependencies: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dirty="0"/>
              <a:t>Each partition of the parent RDD is used by at most one partition of the child RDD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dirty="0"/>
              <a:t>Allow pipelined execution on a single cluster node.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" dirty="0"/>
              <a:t>Example: a filter followed by a map.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" dirty="0"/>
          </a:p>
          <a:p>
            <a:r>
              <a:rPr lang="en" sz="2000" dirty="0"/>
              <a:t>Wide dependencies: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dirty="0"/>
              <a:t>Each partition of the parent RDD is used by multiple partitions of the child RDD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dirty="0"/>
              <a:t>Usually requires shuffling across nodes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dirty="0"/>
              <a:t>Defines the boundary between Stages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5740175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AD745E-FD66-E529-17AE-28B4F7225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RDD API. Wide &amp; Narrow Transformations</a:t>
            </a:r>
            <a:endParaRPr lang="ru-RU" dirty="0"/>
          </a:p>
        </p:txBody>
      </p:sp>
      <p:pic>
        <p:nvPicPr>
          <p:cNvPr id="12290" name="Picture 2" descr="visual_dag_resolved">
            <a:extLst>
              <a:ext uri="{FF2B5EF4-FFF2-40B4-BE49-F238E27FC236}">
                <a16:creationId xmlns:a16="http://schemas.microsoft.com/office/drawing/2014/main" id="{14C0D057-F566-B50C-BAFB-D7D44B8EAC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2800" y="1759550"/>
            <a:ext cx="8686800" cy="4159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D8BDA6-8966-7AEB-9F84-35B29BDEB133}"/>
              </a:ext>
            </a:extLst>
          </p:cNvPr>
          <p:cNvSpPr txBox="1"/>
          <p:nvPr/>
        </p:nvSpPr>
        <p:spPr>
          <a:xfrm>
            <a:off x="660400" y="5987443"/>
            <a:ext cx="73746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Use </a:t>
            </a:r>
            <a:r>
              <a:rPr lang="en" sz="2400" i="1" dirty="0" err="1"/>
              <a:t>RDD.dependencies</a:t>
            </a:r>
            <a:r>
              <a:rPr lang="en" sz="2400" i="1" dirty="0"/>
              <a:t> </a:t>
            </a:r>
            <a:r>
              <a:rPr lang="en" sz="2400" dirty="0"/>
              <a:t>or </a:t>
            </a:r>
            <a:r>
              <a:rPr lang="en" sz="2400" i="1" dirty="0" err="1"/>
              <a:t>RDD.toDebugString</a:t>
            </a:r>
            <a:r>
              <a:rPr lang="en" sz="2400" i="1" dirty="0"/>
              <a:t> to analyze</a:t>
            </a:r>
            <a:endParaRPr lang="ru-RU" sz="2400" i="1" dirty="0"/>
          </a:p>
        </p:txBody>
      </p:sp>
    </p:spTree>
    <p:extLst>
      <p:ext uri="{BB962C8B-B14F-4D97-AF65-F5344CB8AC3E}">
        <p14:creationId xmlns:p14="http://schemas.microsoft.com/office/powerpoint/2010/main" val="9385428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AD745E-FD66-E529-17AE-28B4F7225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Spark. Job Scheduling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0D39BCB-80F3-1CDB-95F1-401EC6E1E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862" y="2133601"/>
            <a:ext cx="5874304" cy="3340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A44B3F1-5670-5946-3A6A-20E1B7F3E4A6}"/>
              </a:ext>
            </a:extLst>
          </p:cNvPr>
          <p:cNvSpPr txBox="1"/>
          <p:nvPr/>
        </p:nvSpPr>
        <p:spPr>
          <a:xfrm>
            <a:off x="406400" y="1690688"/>
            <a:ext cx="568960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" sz="2400" dirty="0"/>
              <a:t>When a user triggers an action on an RDD, the scheduler builds a DAG from the stages of the </a:t>
            </a:r>
            <a:r>
              <a:rPr lang="en" sz="2400" b="1" dirty="0"/>
              <a:t>RDD Lineage Graph</a:t>
            </a:r>
            <a:r>
              <a:rPr lang="en" sz="2400" dirty="0"/>
              <a:t>:</a:t>
            </a:r>
          </a:p>
          <a:p>
            <a:pPr algn="just"/>
            <a:endParaRPr lang="en" sz="2400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" sz="2400" dirty="0"/>
              <a:t>A stage contains various pipelined transformations with narrow dependencies.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" sz="2400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" sz="2400" dirty="0"/>
              <a:t>Boundaries for a stage are defined by:</a:t>
            </a:r>
          </a:p>
          <a:p>
            <a:pPr marL="1200150" lvl="2" indent="-285750" algn="just">
              <a:buFontTx/>
              <a:buChar char="-"/>
            </a:pPr>
            <a:r>
              <a:rPr lang="en" sz="2000" dirty="0"/>
              <a:t>Shuffles for wide dependencies</a:t>
            </a:r>
          </a:p>
          <a:p>
            <a:pPr marL="1200150" lvl="2" indent="-285750" algn="just">
              <a:buFontTx/>
              <a:buChar char="-"/>
            </a:pPr>
            <a:r>
              <a:rPr lang="en" sz="2000" dirty="0"/>
              <a:t>Partitions that have already been processed</a:t>
            </a:r>
          </a:p>
        </p:txBody>
      </p:sp>
    </p:spTree>
    <p:extLst>
      <p:ext uri="{BB962C8B-B14F-4D97-AF65-F5344CB8AC3E}">
        <p14:creationId xmlns:p14="http://schemas.microsoft.com/office/powerpoint/2010/main" val="11166423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AD745E-FD66-E529-17AE-28B4F7225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Spark. Job Scheduling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0D39BCB-80F3-1CDB-95F1-401EC6E1E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862" y="2133601"/>
            <a:ext cx="5874304" cy="3340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A44B3F1-5670-5946-3A6A-20E1B7F3E4A6}"/>
              </a:ext>
            </a:extLst>
          </p:cNvPr>
          <p:cNvSpPr txBox="1"/>
          <p:nvPr/>
        </p:nvSpPr>
        <p:spPr>
          <a:xfrm>
            <a:off x="406400" y="1690688"/>
            <a:ext cx="56896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The scheduler launches tasks to process the remaining partitions (missing partitions) from each stage until the target RDD is computed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Tasks are assigned to machines based on </a:t>
            </a:r>
            <a:r>
              <a:rPr lang="en" sz="2400" b="1" dirty="0"/>
              <a:t>data locality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sz="2400" dirty="0"/>
              <a:t>If a task requires a partition that is available in memory on a node, the task is sent to that node</a:t>
            </a:r>
          </a:p>
        </p:txBody>
      </p:sp>
    </p:spTree>
    <p:extLst>
      <p:ext uri="{BB962C8B-B14F-4D97-AF65-F5344CB8AC3E}">
        <p14:creationId xmlns:p14="http://schemas.microsoft.com/office/powerpoint/2010/main" val="33335051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AD745E-FD66-E529-17AE-28B4F7225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Spark. Fault Tolerance</a:t>
            </a:r>
            <a:endParaRPr lang="ru-RU" dirty="0"/>
          </a:p>
        </p:txBody>
      </p:sp>
      <p:pic>
        <p:nvPicPr>
          <p:cNvPr id="27650" name="Picture 2" descr="fault_tol_1">
            <a:extLst>
              <a:ext uri="{FF2B5EF4-FFF2-40B4-BE49-F238E27FC236}">
                <a16:creationId xmlns:a16="http://schemas.microsoft.com/office/drawing/2014/main" id="{9DE7B665-080F-4D7B-3882-4DDE5FFE8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67210"/>
            <a:ext cx="4605337" cy="4828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2" name="Picture 4" descr="fault_tol_2">
            <a:extLst>
              <a:ext uri="{FF2B5EF4-FFF2-40B4-BE49-F238E27FC236}">
                <a16:creationId xmlns:a16="http://schemas.microsoft.com/office/drawing/2014/main" id="{375FD2E8-3FB2-09D3-8A30-72495D9C0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7163" y="1567210"/>
            <a:ext cx="4605337" cy="4681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39710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AD745E-FD66-E529-17AE-28B4F7225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Spark. Fault Tolerance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FC5DD2-67B3-6B7E-F7AA-BAC580E23853}"/>
              </a:ext>
            </a:extLst>
          </p:cNvPr>
          <p:cNvSpPr txBox="1"/>
          <p:nvPr/>
        </p:nvSpPr>
        <p:spPr>
          <a:xfrm>
            <a:off x="749300" y="1565017"/>
            <a:ext cx="95377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000" dirty="0"/>
              <a:t>RDD maintains lineage information, which can be used to recover lost partitions: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000" dirty="0"/>
              <a:t>Intermediate results from wide dependencies are materialized on nodes responsible for the parent partitions to simplify fault recovery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000" dirty="0"/>
              <a:t>If a task fails, it will be restarted on another node as long as parent stages are available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000" dirty="0"/>
              <a:t>If some parent stages become unavailable, tasks are submitted to recompute the missing partitions in parallel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000" dirty="0"/>
              <a:t>Recovery can be time-consuming for RDDs with long lineage chains and wide dependencies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000" dirty="0"/>
              <a:t>It may be useful to persist certain RDDs to reliable 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000" dirty="0"/>
              <a:t>The decision of what to persist is left to the developer</a:t>
            </a:r>
          </a:p>
        </p:txBody>
      </p:sp>
    </p:spTree>
    <p:extLst>
      <p:ext uri="{BB962C8B-B14F-4D97-AF65-F5344CB8AC3E}">
        <p14:creationId xmlns:p14="http://schemas.microsoft.com/office/powerpoint/2010/main" val="25118049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AD745E-FD66-E529-17AE-28B4F7225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Spark. Memory Management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FC5DD2-67B3-6B7E-F7AA-BAC580E23853}"/>
              </a:ext>
            </a:extLst>
          </p:cNvPr>
          <p:cNvSpPr txBox="1"/>
          <p:nvPr/>
        </p:nvSpPr>
        <p:spPr>
          <a:xfrm>
            <a:off x="736600" y="1976944"/>
            <a:ext cx="69977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400" dirty="0"/>
              <a:t>If there is not enough memory for new RDD partitions, LRU (least recently used) eviction is used:</a:t>
            </a:r>
          </a:p>
          <a:p>
            <a:br>
              <a:rPr lang="en" sz="2400" dirty="0"/>
            </a:br>
            <a:r>
              <a:rPr lang="en" sz="2400" dirty="0"/>
              <a:t>Spark provides three options for storing persistent RDDs: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sz="2400" dirty="0"/>
              <a:t>In-memory storage as deserialized Java objects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sz="2400" dirty="0"/>
              <a:t>In-memory storage as serialized Java objects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sz="2400" dirty="0"/>
              <a:t>On-disk storage</a:t>
            </a:r>
          </a:p>
        </p:txBody>
      </p:sp>
    </p:spTree>
    <p:extLst>
      <p:ext uri="{BB962C8B-B14F-4D97-AF65-F5344CB8AC3E}">
        <p14:creationId xmlns:p14="http://schemas.microsoft.com/office/powerpoint/2010/main" val="38584410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AD745E-FD66-E529-17AE-28B4F7225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Spark. Memory Management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FC5DD2-67B3-6B7E-F7AA-BAC580E23853}"/>
              </a:ext>
            </a:extLst>
          </p:cNvPr>
          <p:cNvSpPr txBox="1"/>
          <p:nvPr/>
        </p:nvSpPr>
        <p:spPr>
          <a:xfrm>
            <a:off x="698500" y="1806317"/>
            <a:ext cx="74549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400" dirty="0"/>
              <a:t>For persistent RDDs, each node keeps any RDD partitions in RAM, allowing new actions to execute much faster</a:t>
            </a:r>
          </a:p>
          <a:p>
            <a:br>
              <a:rPr lang="en" sz="2400" dirty="0"/>
            </a:br>
            <a:r>
              <a:rPr lang="en" sz="2400" dirty="0"/>
              <a:t>This is done using the persist() or cache() methods</a:t>
            </a:r>
          </a:p>
          <a:p>
            <a:endParaRPr lang="en" sz="2400" dirty="0"/>
          </a:p>
          <a:p>
            <a:r>
              <a:rPr lang="en" sz="2400" dirty="0"/>
              <a:t>Different storage levels: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sz="2400" dirty="0"/>
              <a:t>MEMORY_ONLY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sz="2400" dirty="0"/>
              <a:t>MEMORY_AND_DISK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sz="2400" dirty="0"/>
              <a:t>MEMORY_ONLY_SER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sz="2400" dirty="0"/>
              <a:t>MEMORY_AND_DISK_SER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sz="2400" dirty="0"/>
              <a:t>MEMORY_ONLY_2, MEMORY_AND_DISK_2, etc.</a:t>
            </a:r>
          </a:p>
        </p:txBody>
      </p:sp>
    </p:spTree>
    <p:extLst>
      <p:ext uri="{BB962C8B-B14F-4D97-AF65-F5344CB8AC3E}">
        <p14:creationId xmlns:p14="http://schemas.microsoft.com/office/powerpoint/2010/main" val="42945650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AD745E-FD66-E529-17AE-28B4F7225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Spark. Shared Variables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FC5DD2-67B3-6B7E-F7AA-BAC580E23853}"/>
              </a:ext>
            </a:extLst>
          </p:cNvPr>
          <p:cNvSpPr txBox="1"/>
          <p:nvPr/>
        </p:nvSpPr>
        <p:spPr>
          <a:xfrm>
            <a:off x="698500" y="1806317"/>
            <a:ext cx="76073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400" dirty="0"/>
              <a:t>Sometimes it is necessary for a variable to be shared between tasks or between tasks and the driver program</a:t>
            </a:r>
          </a:p>
          <a:p>
            <a:br>
              <a:rPr lang="en" sz="2400" dirty="0"/>
            </a:br>
            <a:r>
              <a:rPr lang="en" sz="2400" b="1" dirty="0"/>
              <a:t>Using regular read-write shared variables between tasks is inefficient:</a:t>
            </a:r>
          </a:p>
          <a:p>
            <a:endParaRPr lang="en" sz="24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sz="2400" dirty="0"/>
              <a:t>Read-only — Broadcast Variables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sz="2400" dirty="0"/>
              <a:t>Write-only — Accumulators </a:t>
            </a:r>
          </a:p>
          <a:p>
            <a:endParaRPr lang="en" sz="2400" b="1" dirty="0"/>
          </a:p>
        </p:txBody>
      </p:sp>
    </p:spTree>
    <p:extLst>
      <p:ext uri="{BB962C8B-B14F-4D97-AF65-F5344CB8AC3E}">
        <p14:creationId xmlns:p14="http://schemas.microsoft.com/office/powerpoint/2010/main" val="20179473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AD745E-FD66-E529-17AE-28B4F7225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Spark. </a:t>
            </a:r>
            <a:r>
              <a:rPr lang="en" sz="4400" dirty="0"/>
              <a:t>Broadcast Variables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FC5DD2-67B3-6B7E-F7AA-BAC580E23853}"/>
              </a:ext>
            </a:extLst>
          </p:cNvPr>
          <p:cNvSpPr txBox="1"/>
          <p:nvPr/>
        </p:nvSpPr>
        <p:spPr>
          <a:xfrm>
            <a:off x="698500" y="1806317"/>
            <a:ext cx="76073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b="1" dirty="0"/>
              <a:t>Read-only variables</a:t>
            </a:r>
            <a:r>
              <a:rPr lang="en" sz="2400" dirty="0"/>
              <a:t> are cached on each machine instead of sending a copy to every operation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b="1" dirty="0"/>
              <a:t>Broadcast Variables</a:t>
            </a:r>
            <a:r>
              <a:rPr lang="en" sz="2400" dirty="0"/>
              <a:t> are sent to a node only once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1B84361-76C1-A345-BA18-082319AC4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550" y="3705288"/>
            <a:ext cx="7258050" cy="278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9006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AD745E-FD66-E529-17AE-28B4F7225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Spark. </a:t>
            </a:r>
            <a:r>
              <a:rPr lang="en" sz="4400" dirty="0"/>
              <a:t>Accumulators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FC5DD2-67B3-6B7E-F7AA-BAC580E23853}"/>
              </a:ext>
            </a:extLst>
          </p:cNvPr>
          <p:cNvSpPr txBox="1"/>
          <p:nvPr/>
        </p:nvSpPr>
        <p:spPr>
          <a:xfrm>
            <a:off x="698500" y="1806317"/>
            <a:ext cx="76073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Variables that can only be incremented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Can be used to implement counters and accumulators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 dirty="0"/>
              <a:t>Tasks running on the cluster can then add values using the += operator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D4A2417-FB96-026A-D697-F2D517578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9973" y="4234477"/>
            <a:ext cx="5632054" cy="2258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1133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AD745E-FD66-E529-17AE-28B4F7225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Spark. Use cases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FC5DD2-67B3-6B7E-F7AA-BAC580E23853}"/>
              </a:ext>
            </a:extLst>
          </p:cNvPr>
          <p:cNvSpPr txBox="1"/>
          <p:nvPr/>
        </p:nvSpPr>
        <p:spPr>
          <a:xfrm>
            <a:off x="698500" y="1806317"/>
            <a:ext cx="74549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400" dirty="0"/>
              <a:t>Applications suitable for RDDs: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sz="2400" dirty="0"/>
              <a:t>Batch applications that apply a single operation to all elements in a dataset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" sz="2400" dirty="0"/>
          </a:p>
          <a:p>
            <a:r>
              <a:rPr lang="en" sz="2400" dirty="0"/>
              <a:t>Applications not suitable for RDDs: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sz="2400" dirty="0"/>
              <a:t>Applications performing asynchronous fine-grained updates, modifying shared state (e.g., storage systems for web applications)</a:t>
            </a:r>
          </a:p>
        </p:txBody>
      </p:sp>
    </p:spTree>
    <p:extLst>
      <p:ext uri="{BB962C8B-B14F-4D97-AF65-F5344CB8AC3E}">
        <p14:creationId xmlns:p14="http://schemas.microsoft.com/office/powerpoint/2010/main" val="175705801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1227</TotalTime>
  <Words>1458</Words>
  <Application>Microsoft Macintosh PowerPoint</Application>
  <PresentationFormat>Широкоэкранный</PresentationFormat>
  <Paragraphs>233</Paragraphs>
  <Slides>34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34</vt:i4>
      </vt:variant>
    </vt:vector>
  </HeadingPairs>
  <TitlesOfParts>
    <vt:vector size="39" baseType="lpstr">
      <vt:lpstr>Arial</vt:lpstr>
      <vt:lpstr>Calibri</vt:lpstr>
      <vt:lpstr>Calibri Light</vt:lpstr>
      <vt:lpstr>Helvetica Neue</vt:lpstr>
      <vt:lpstr>Тема Office</vt:lpstr>
      <vt:lpstr>Industrial Machine Learning on Hadoop and Spark </vt:lpstr>
      <vt:lpstr>Distributed computing. Spark</vt:lpstr>
      <vt:lpstr>Spark</vt:lpstr>
      <vt:lpstr>Spark. Motivation</vt:lpstr>
      <vt:lpstr>Spark vs MapReduce</vt:lpstr>
      <vt:lpstr>Spark vs MapReduce</vt:lpstr>
      <vt:lpstr>Spark vs MapReduce</vt:lpstr>
      <vt:lpstr>MapReduce vs Spark. Sequential Jobs</vt:lpstr>
      <vt:lpstr>MapReduce vs Spark. Multiple Jobs</vt:lpstr>
      <vt:lpstr>Spark Outline</vt:lpstr>
      <vt:lpstr>Spark Components</vt:lpstr>
      <vt:lpstr>Spark Architecture</vt:lpstr>
      <vt:lpstr>Spark Workflow</vt:lpstr>
      <vt:lpstr>SparkSession</vt:lpstr>
      <vt:lpstr>Spark Runtime</vt:lpstr>
      <vt:lpstr>Spark External Processes</vt:lpstr>
      <vt:lpstr>Spark. RDD API</vt:lpstr>
      <vt:lpstr>Spark. RDD API</vt:lpstr>
      <vt:lpstr>Spark. Programming Model</vt:lpstr>
      <vt:lpstr>Spark. DAG</vt:lpstr>
      <vt:lpstr>Spark. High-Order Functions</vt:lpstr>
      <vt:lpstr>Spark. Lazy Evaluation</vt:lpstr>
      <vt:lpstr>RDD API. Wide &amp; Narrow Transformations</vt:lpstr>
      <vt:lpstr>RDD API. Wide &amp; Narrow Transformations</vt:lpstr>
      <vt:lpstr>Spark. Job Scheduling</vt:lpstr>
      <vt:lpstr>Spark. Job Scheduling</vt:lpstr>
      <vt:lpstr>Spark. Fault Tolerance</vt:lpstr>
      <vt:lpstr>Spark. Fault Tolerance</vt:lpstr>
      <vt:lpstr>Spark. Memory Management</vt:lpstr>
      <vt:lpstr>Spark. Memory Management</vt:lpstr>
      <vt:lpstr>Spark. Shared Variables</vt:lpstr>
      <vt:lpstr>Spark. Broadcast Variables</vt:lpstr>
      <vt:lpstr>Spark. Accumulators</vt:lpstr>
      <vt:lpstr>Spark. Use cases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Industrial Machine Learning on Hadoop and Spark </dc:title>
  <dc:creator>Maksim Nakhodnov</dc:creator>
  <cp:lastModifiedBy>Maksim Nakhodnov</cp:lastModifiedBy>
  <cp:revision>321</cp:revision>
  <dcterms:created xsi:type="dcterms:W3CDTF">2025-09-08T14:49:50Z</dcterms:created>
  <dcterms:modified xsi:type="dcterms:W3CDTF">2025-10-20T17:06:19Z</dcterms:modified>
</cp:coreProperties>
</file>