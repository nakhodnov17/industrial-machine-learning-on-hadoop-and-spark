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8" r:id="rId4"/>
    <p:sldId id="277" r:id="rId5"/>
    <p:sldId id="280" r:id="rId6"/>
    <p:sldId id="283" r:id="rId7"/>
    <p:sldId id="284" r:id="rId8"/>
    <p:sldId id="285" r:id="rId9"/>
    <p:sldId id="281" r:id="rId10"/>
    <p:sldId id="28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9"/>
    <p:restoredTop sz="96405"/>
  </p:normalViewPr>
  <p:slideViewPr>
    <p:cSldViewPr snapToGrid="0" snapToObjects="1" showGuides="1">
      <p:cViewPr varScale="1">
        <p:scale>
          <a:sx n="62" d="100"/>
          <a:sy n="62" d="100"/>
        </p:scale>
        <p:origin x="856" y="2244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F6EAE-B82E-BC4A-BDEE-36473373A37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70A5C-8A04-3A47-923A-D08A7CEE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45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31D5A-E201-7474-4B1A-5BD19B589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ACECF7-4DA8-CE55-6485-5F1F77C5D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84EDE-F261-5961-8FD2-B845DB46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1ADCB9-5366-F668-C6B4-917C6A2B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C08356-EC1C-C0AF-3442-4A2E7DFC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96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BE389-735E-A11E-F79E-7640FFA6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FDBF44-CAD3-B74E-10E4-A9BF562D4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DA6533-7671-1C9B-BA84-E5150465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52B4D0-3325-69B2-3960-6E71E567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A6CF87-AB08-426F-0D53-3DBBE062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14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4122F-92D0-FC73-D26B-A821BF52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7618E2-109C-7CC6-8155-A55233859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23CCF2-8484-59BE-E69A-89874BCA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C9B669-7276-5091-A52D-22F85797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5CA5AD-BF3F-27BF-55E4-649A0CC0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82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9B833-9DC9-0B81-C4D9-6B42F2DD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877BDE-B32D-8958-29C3-D2A9F9AAA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119958-D063-99B2-E2FB-30A66DD96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470D1E-2CCE-EEAF-B672-3A9E9D40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86A597-B7D1-ED62-3285-D364F0AF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470D36-BCC0-3261-B1F0-7D6B5A81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65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B1CC6-C706-B6C0-FDCB-FA94B910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3CBE6A-5B25-27D0-C684-29DB79D2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DF7E6A-40E3-46D1-9B43-52450371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135165E-9BAF-31E2-E4E8-01CCA24D0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B16CD3-56D3-A37F-56FB-CE97EA8B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7ED33E-EA87-D8F4-8992-401D344D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1F2D7E0-2878-41A1-0EC2-2B901487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9222BA-7D9B-88A0-B7E5-3BBA14C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54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90632-6D57-82C4-2334-6DFDE27C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D5B416-D99B-CA60-B9BA-29273A2A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8C257F-7982-2BE5-A531-70E7DF01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063ED8-ADAF-F272-99DD-66C03E21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4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43745E-ABFC-44E7-14B0-CB7766BE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255CDFB-3A4E-79BA-93DA-AFA0361A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D84A93-B78B-7BF0-7AA4-7F685BD1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75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65BCE-05D7-FEFD-3533-C07B8BD8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111FC4-2EA3-6308-8156-C72F88ACF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113F83-276C-691B-A16E-5E74F3316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739AA7-5F87-7737-D618-DE755B10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2F201D-5D8D-F270-7379-B9C69703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FBCD0D-823D-8001-7BDA-17B72BE3A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51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CC6E7-F034-BA12-B3FB-BED1D63B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C78D401-37AC-6344-4558-04D562F93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357C2E-F25D-F67E-7554-5F7589753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24F36D-DEC8-00E6-0287-01C503A3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6FBDD6-3BCC-9FE1-DC82-EA39E795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677A20-1D78-B2AE-AD62-ABBFEDE1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14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D4461-D3CB-615C-7987-4673B4D0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CF3012-741E-4439-39E5-C94A53DAA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3AED54-2280-AEF4-1870-59EA9000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83FE9-8983-5897-BB3B-E39F9FFE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79589F-B354-4ED6-6AAA-B1D90D37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67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D55CA7-3716-60C4-6659-BAA53780D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273567-58FC-40D3-90BB-9E2609103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B68AFA-4476-9BBD-3200-AEF1074E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E15B1D-1856-7580-F921-A5F9EA96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5C6A57-CD75-9D77-B2B2-E346F9CD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99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97047-18CC-B795-F77F-282CCFD8D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4874D3-7A2D-F771-C8DF-F7BAF033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0163B5-2B4B-30D5-90A2-68163F268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58E46-324A-0F41-A8E0-24AAA974ABFE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63CEBD-2B04-9620-F1D7-51A9CE25B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199310-CB4C-7A92-B236-7EBB29C82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45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spark.apache.org/docs/latest/ml-features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spark.apache.org/docs/latest/ml-features.html#discrete-cosine-transform-dct" TargetMode="External"/><Relationship Id="rId13" Type="http://schemas.openxmlformats.org/officeDocument/2006/relationships/hyperlink" Target="http://spark.apache.org/docs/latest/ml-features.html#interaction" TargetMode="External"/><Relationship Id="rId18" Type="http://schemas.openxmlformats.org/officeDocument/2006/relationships/hyperlink" Target="http://spark.apache.org/docs/latest/ml-features.html#maxabsscaler" TargetMode="External"/><Relationship Id="rId26" Type="http://schemas.openxmlformats.org/officeDocument/2006/relationships/image" Target="../media/image4.png"/><Relationship Id="rId3" Type="http://schemas.openxmlformats.org/officeDocument/2006/relationships/hyperlink" Target="http://spark.apache.org/docs/latest/ml-features.html#stopwordsremover" TargetMode="External"/><Relationship Id="rId21" Type="http://schemas.openxmlformats.org/officeDocument/2006/relationships/hyperlink" Target="http://spark.apache.org/docs/latest/ml-features.html#sqltransformer" TargetMode="External"/><Relationship Id="rId7" Type="http://schemas.openxmlformats.org/officeDocument/2006/relationships/hyperlink" Target="http://spark.apache.org/docs/latest/ml-features.html#polynomialexpansion" TargetMode="External"/><Relationship Id="rId12" Type="http://schemas.openxmlformats.org/officeDocument/2006/relationships/hyperlink" Target="http://spark.apache.org/docs/latest/ml-features.html#vectorindexer" TargetMode="External"/><Relationship Id="rId17" Type="http://schemas.openxmlformats.org/officeDocument/2006/relationships/hyperlink" Target="http://spark.apache.org/docs/latest/ml-features.html#minmaxscaler" TargetMode="External"/><Relationship Id="rId25" Type="http://schemas.openxmlformats.org/officeDocument/2006/relationships/hyperlink" Target="http://spark.apache.org/docs/latest/ml-features.html#imputer" TargetMode="External"/><Relationship Id="rId2" Type="http://schemas.openxmlformats.org/officeDocument/2006/relationships/hyperlink" Target="http://spark.apache.org/docs/latest/ml-features.html#tokenizer" TargetMode="External"/><Relationship Id="rId16" Type="http://schemas.openxmlformats.org/officeDocument/2006/relationships/hyperlink" Target="http://spark.apache.org/docs/latest/ml-features.html#robustscaler" TargetMode="External"/><Relationship Id="rId20" Type="http://schemas.openxmlformats.org/officeDocument/2006/relationships/hyperlink" Target="http://spark.apache.org/docs/latest/ml-features.html#elementwiseproduc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park.apache.org/docs/latest/ml-features.html#pca" TargetMode="External"/><Relationship Id="rId11" Type="http://schemas.openxmlformats.org/officeDocument/2006/relationships/hyperlink" Target="http://spark.apache.org/docs/latest/ml-features.html#onehotencoder" TargetMode="External"/><Relationship Id="rId24" Type="http://schemas.openxmlformats.org/officeDocument/2006/relationships/hyperlink" Target="http://spark.apache.org/docs/latest/ml-features.html#quantilediscretizer" TargetMode="External"/><Relationship Id="rId5" Type="http://schemas.openxmlformats.org/officeDocument/2006/relationships/hyperlink" Target="http://spark.apache.org/docs/latest/ml-features.html#binarizer" TargetMode="External"/><Relationship Id="rId15" Type="http://schemas.openxmlformats.org/officeDocument/2006/relationships/hyperlink" Target="http://spark.apache.org/docs/latest/ml-features.html#standardscaler" TargetMode="External"/><Relationship Id="rId23" Type="http://schemas.openxmlformats.org/officeDocument/2006/relationships/hyperlink" Target="http://spark.apache.org/docs/latest/ml-features.html#vectorsizehint" TargetMode="External"/><Relationship Id="rId10" Type="http://schemas.openxmlformats.org/officeDocument/2006/relationships/hyperlink" Target="http://spark.apache.org/docs/latest/ml-features.html#indextostring" TargetMode="External"/><Relationship Id="rId19" Type="http://schemas.openxmlformats.org/officeDocument/2006/relationships/hyperlink" Target="http://spark.apache.org/docs/latest/ml-features.html#bucketizer" TargetMode="External"/><Relationship Id="rId4" Type="http://schemas.openxmlformats.org/officeDocument/2006/relationships/hyperlink" Target="http://spark.apache.org/docs/latest/ml-features.html#n-gram" TargetMode="External"/><Relationship Id="rId9" Type="http://schemas.openxmlformats.org/officeDocument/2006/relationships/hyperlink" Target="http://spark.apache.org/docs/latest/ml-features.html#stringindexer" TargetMode="External"/><Relationship Id="rId14" Type="http://schemas.openxmlformats.org/officeDocument/2006/relationships/hyperlink" Target="http://spark.apache.org/docs/latest/ml-features.html#normalizer" TargetMode="External"/><Relationship Id="rId22" Type="http://schemas.openxmlformats.org/officeDocument/2006/relationships/hyperlink" Target="http://spark.apache.org/docs/latest/ml-features.html#vectorassembler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park.apache.org/docs/latest/api/python/reference/api/pyspark.ml.regression.LinearRegression.html#pyspark.ml.regression.LinearRegression" TargetMode="External"/><Relationship Id="rId13" Type="http://schemas.openxmlformats.org/officeDocument/2006/relationships/hyperlink" Target="https://spark.apache.org/docs/latest/api/python/reference/api/pyspark.ml.classification.RandomForestClassifier.html#pyspark.ml.classification.RandomForestClassifier" TargetMode="External"/><Relationship Id="rId3" Type="http://schemas.openxmlformats.org/officeDocument/2006/relationships/hyperlink" Target="https://spark.apache.org/docs/latest/api/python/reference/api/pyspark.ml.clustering.KMeans.html#pyspark.ml.clustering.KMeans" TargetMode="External"/><Relationship Id="rId7" Type="http://schemas.openxmlformats.org/officeDocument/2006/relationships/hyperlink" Target="https://spark.apache.org/docs/latest/api/python/reference/api/pyspark.ml.regression.DecisionTreeRegressor.html#pyspark.ml.regression.DecisionTreeRegressor" TargetMode="External"/><Relationship Id="rId12" Type="http://schemas.openxmlformats.org/officeDocument/2006/relationships/hyperlink" Target="http://spark.apache.org/docs/latest/ml-features.html#n-gram" TargetMode="External"/><Relationship Id="rId2" Type="http://schemas.openxmlformats.org/officeDocument/2006/relationships/image" Target="../media/image5.png"/><Relationship Id="rId16" Type="http://schemas.openxmlformats.org/officeDocument/2006/relationships/hyperlink" Target="https://spark.apache.org/docs/latest/api/python/reference/api/pyspark.ml.classification.MultilayerPerceptronClassifier.html#pyspark.ml.classification.MultilayerPerceptronClassifi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ark.apache.org/docs/latest/api/python/reference/api/pyspark.ml.recommendation.ALS.html#pyspark.ml.recommendation.ALS" TargetMode="External"/><Relationship Id="rId11" Type="http://schemas.openxmlformats.org/officeDocument/2006/relationships/hyperlink" Target="https://spark.apache.org/docs/latest/api/python/reference/api/pyspark.ml.classification.DecisionTreeClassifier.html#pyspark.ml.classification.DecisionTreeClassifier" TargetMode="External"/><Relationship Id="rId5" Type="http://schemas.openxmlformats.org/officeDocument/2006/relationships/hyperlink" Target="https://spark.apache.org/docs/latest/api/python/reference/api/pyspark.ml.clustering.GaussianMixture.html#pyspark.ml.clustering.GaussianMixture" TargetMode="External"/><Relationship Id="rId15" Type="http://schemas.openxmlformats.org/officeDocument/2006/relationships/hyperlink" Target="https://spark.apache.org/docs/latest/api/python/reference/api/pyspark.ml.classification.OneVsRest.html#pyspark.ml.classification.OneVsRest" TargetMode="External"/><Relationship Id="rId10" Type="http://schemas.openxmlformats.org/officeDocument/2006/relationships/hyperlink" Target="https://spark.apache.org/docs/latest/api/python/reference/api/pyspark.ml.classification.LogisticRegression.html#pyspark.ml.classification.LogisticRegression" TargetMode="External"/><Relationship Id="rId4" Type="http://schemas.openxmlformats.org/officeDocument/2006/relationships/hyperlink" Target="https://spark.apache.org/docs/latest/api/python/reference/api/pyspark.ml.clustering.LDA.html#pyspark.ml.clustering.LDA" TargetMode="External"/><Relationship Id="rId9" Type="http://schemas.openxmlformats.org/officeDocument/2006/relationships/hyperlink" Target="https://spark.apache.org/docs/latest/api/python/reference/api/pyspark.ml.regression.RandomForestRegressor.html#pyspark.ml.regression.RandomForestRegressor" TargetMode="External"/><Relationship Id="rId14" Type="http://schemas.openxmlformats.org/officeDocument/2006/relationships/hyperlink" Target="https://spark.apache.org/docs/latest/api/python/reference/api/pyspark.ml.classification.NaiveBayes.html#pyspark.ml.classification.NaiveBayes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spark.apache.org/docs/latest/api/python/reference/api/pyspark.ml.evaluation.RegressionEvaluator.html#pyspark.ml.evaluation.RegressionEvaluator" TargetMode="External"/><Relationship Id="rId7" Type="http://schemas.openxmlformats.org/officeDocument/2006/relationships/hyperlink" Target="https://spark.apache.org/docs/latest/api/python/reference/api/pyspark.ml.evaluation.ClusteringEvaluator.html#pyspark.ml.evaluation.ClusteringEvaluator" TargetMode="External"/><Relationship Id="rId2" Type="http://schemas.openxmlformats.org/officeDocument/2006/relationships/hyperlink" Target="https://spark.apache.org/docs/latest/api/python/reference/api/pyspark.ml.evaluation.BinaryClassificationEvaluator.html#pyspark.ml.evaluation.BinaryClassificationEvaluato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ark.apache.org/docs/latest/api/python/reference/api/pyspark.ml.evaluation.MultilabelClassificationEvaluator.html#pyspark.ml.evaluation.MultilabelClassificationEvaluator" TargetMode="External"/><Relationship Id="rId5" Type="http://schemas.openxmlformats.org/officeDocument/2006/relationships/hyperlink" Target="https://spark.apache.org/docs/latest/api/python/reference/api/pyspark.ml.evaluation.MulticlassClassificationEvaluator.html#pyspark.ml.evaluation.MulticlassClassificationEvaluator" TargetMode="External"/><Relationship Id="rId4" Type="http://schemas.openxmlformats.org/officeDocument/2006/relationships/hyperlink" Target="http://spark.apache.org/docs/latest/ml-features.html#n-gram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D94878-F624-767A-70EF-8946148807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29" b="-6088"/>
          <a:stretch/>
        </p:blipFill>
        <p:spPr>
          <a:xfrm>
            <a:off x="0" y="0"/>
            <a:ext cx="12192000" cy="734479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F8BB4-F5CF-1511-E969-809676AC8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179" y="3641967"/>
            <a:ext cx="10515600" cy="2189797"/>
          </a:xfrm>
        </p:spPr>
        <p:txBody>
          <a:bodyPr>
            <a:normAutofit fontScale="90000"/>
          </a:bodyPr>
          <a:lstStyle/>
          <a:p>
            <a:pPr algn="l"/>
            <a: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  <a:t>Industrial Machine Learning on Hadoop and Spark</a:t>
            </a:r>
            <a:b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</a:br>
            <a:endParaRPr lang="ru-RU" b="1" dirty="0">
              <a:ln w="22225">
                <a:solidFill>
                  <a:schemeClr val="bg1"/>
                </a:solidFill>
                <a:prstDash val="solid"/>
              </a:ln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E0D339-4BFD-3D45-CBF6-BC3154748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21672" y="6129627"/>
            <a:ext cx="5648960" cy="378902"/>
          </a:xfrm>
        </p:spPr>
        <p:txBody>
          <a:bodyPr>
            <a:normAutofit/>
          </a:bodyPr>
          <a:lstStyle/>
          <a:p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Maks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Nakhodnov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, Bremen 2025</a:t>
            </a:r>
            <a:endParaRPr lang="en" sz="20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89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92E03-FC92-52CB-17FF-7BE9F450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4400" dirty="0">
                <a:ea typeface="Times New Roman"/>
                <a:cs typeface="Times New Roman" panose="02020603050405020304" pitchFamily="18" charset="0"/>
                <a:sym typeface="Times New Roman"/>
              </a:rPr>
              <a:t>Distributed computing</a:t>
            </a:r>
            <a:r>
              <a:rPr lang="ru-RU" sz="4400" dirty="0">
                <a:ea typeface="Times New Roman"/>
                <a:cs typeface="Times New Roman" panose="02020603050405020304" pitchFamily="18" charset="0"/>
                <a:sym typeface="Times New Roman"/>
              </a:rPr>
              <a:t>. </a:t>
            </a:r>
            <a:r>
              <a:rPr lang="en-US" dirty="0"/>
              <a:t>Spark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A7CED-94F3-7500-3D48-5CF5EB0D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dirty="0"/>
              <a:t> Plan:</a:t>
            </a:r>
            <a:endParaRPr lang="ru-RU" dirty="0"/>
          </a:p>
          <a:p>
            <a:pPr lvl="1"/>
            <a:r>
              <a:rPr lang="en" dirty="0"/>
              <a:t>Spark </a:t>
            </a:r>
            <a:r>
              <a:rPr lang="en-US" dirty="0"/>
              <a:t>ML</a:t>
            </a:r>
            <a:endParaRPr lang="ru-RU" dirty="0"/>
          </a:p>
          <a:p>
            <a:pPr marL="0" indent="0">
              <a:buNone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619353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7E905-1781-F5B8-0640-524E68C0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07238-4617-7756-B923-88B1D1DCD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want to do?</a:t>
            </a:r>
            <a:endParaRPr lang="ru-RU" dirty="0"/>
          </a:p>
        </p:txBody>
      </p:sp>
      <p:pic>
        <p:nvPicPr>
          <p:cNvPr id="10" name="Google Shape;211;p39">
            <a:extLst>
              <a:ext uri="{FF2B5EF4-FFF2-40B4-BE49-F238E27FC236}">
                <a16:creationId xmlns:a16="http://schemas.microsoft.com/office/drawing/2014/main" id="{2B149ACB-82AD-4B36-ACAC-1DB8209ABA3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46837" y="1483019"/>
            <a:ext cx="8698326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865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05;p38">
            <a:extLst>
              <a:ext uri="{FF2B5EF4-FFF2-40B4-BE49-F238E27FC236}">
                <a16:creationId xmlns:a16="http://schemas.microsoft.com/office/drawing/2014/main" id="{80F809EE-757F-932A-7BD0-B295DB5E1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7084" y="2592401"/>
            <a:ext cx="875783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What does Spark ML allow you to do?</a:t>
            </a:r>
          </a:p>
        </p:txBody>
      </p:sp>
      <p:sp>
        <p:nvSpPr>
          <p:cNvPr id="10" name="Google Shape;206;p38">
            <a:extLst>
              <a:ext uri="{FF2B5EF4-FFF2-40B4-BE49-F238E27FC236}">
                <a16:creationId xmlns:a16="http://schemas.microsoft.com/office/drawing/2014/main" id="{1439A0D1-209B-1A6D-F917-0793A07DCD98}"/>
              </a:ext>
            </a:extLst>
          </p:cNvPr>
          <p:cNvSpPr txBox="1"/>
          <p:nvPr/>
        </p:nvSpPr>
        <p:spPr>
          <a:xfrm>
            <a:off x="3464513" y="3622928"/>
            <a:ext cx="526297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 dirty="0">
                <a:solidFill>
                  <a:schemeClr val="hlink"/>
                </a:solidFill>
                <a:hlinkClick r:id="rId2"/>
              </a:rPr>
              <a:t>http://spark.apache.org/docs/latest/ml-features.html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4380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4E89-58EA-F490-E1B7-3B3F19D4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5A425C-BBFB-2E72-DF9D-92E386EF2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630" y="1191026"/>
            <a:ext cx="8238740" cy="549024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B4156D-9D02-68EC-2848-16AB9A27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Spark ML allow you to do?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941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5ED99-A064-F0F6-AAF4-064E8CB07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955F3-AA52-6513-EF3C-6D45CFB0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ML. Transformer</a:t>
            </a:r>
            <a:endParaRPr lang="ru-RU" dirty="0"/>
          </a:p>
        </p:txBody>
      </p:sp>
      <p:sp>
        <p:nvSpPr>
          <p:cNvPr id="6" name="Google Shape;227;p42">
            <a:extLst>
              <a:ext uri="{FF2B5EF4-FFF2-40B4-BE49-F238E27FC236}">
                <a16:creationId xmlns:a16="http://schemas.microsoft.com/office/drawing/2014/main" id="{03EE0096-1652-DE60-91A0-C75613B7CDB4}"/>
              </a:ext>
            </a:extLst>
          </p:cNvPr>
          <p:cNvSpPr txBox="1"/>
          <p:nvPr/>
        </p:nvSpPr>
        <p:spPr>
          <a:xfrm>
            <a:off x="6423852" y="1689605"/>
            <a:ext cx="3000000" cy="47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Tokenizer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StopWordsRemover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n-gram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Binarizer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PCA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PolynomialExpansion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Discrete Cosine Transform (DCT)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StringIndexer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IndexToString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OneHotEncoder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VectorIndexer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Interaction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</p:txBody>
      </p:sp>
      <p:sp>
        <p:nvSpPr>
          <p:cNvPr id="7" name="Google Shape;228;p42">
            <a:extLst>
              <a:ext uri="{FF2B5EF4-FFF2-40B4-BE49-F238E27FC236}">
                <a16:creationId xmlns:a16="http://schemas.microsoft.com/office/drawing/2014/main" id="{4EA2AD5A-FAC7-FBB9-7144-B1B64D320D90}"/>
              </a:ext>
            </a:extLst>
          </p:cNvPr>
          <p:cNvSpPr txBox="1"/>
          <p:nvPr/>
        </p:nvSpPr>
        <p:spPr>
          <a:xfrm>
            <a:off x="9016598" y="1690688"/>
            <a:ext cx="2770709" cy="4409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Normalizer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StandardScaler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RobustScaler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MinMaxScaler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MaxAbsScaler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Bucketizer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ElementwiseProduct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SQLTransformer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VectorAssembler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VectorSizeHint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QuantileDiscretizer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ru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Imputer</a:t>
            </a:r>
            <a:endParaRPr sz="3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2A7915-A154-A388-5D74-8BC245374C6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4693" y="2468336"/>
            <a:ext cx="6248450" cy="274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823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011C5-66A0-C8C5-416F-C4F8F0AB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FFE09-D90B-7155-34D9-CE9113E64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ML. Estimator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E5E368-A3AB-A848-DDAE-EC941C00F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41" y="2543415"/>
            <a:ext cx="6281358" cy="2730843"/>
          </a:xfrm>
          <a:prstGeom prst="rect">
            <a:avLst/>
          </a:prstGeom>
        </p:spPr>
      </p:pic>
      <p:sp>
        <p:nvSpPr>
          <p:cNvPr id="5" name="Google Shape;228;p42">
            <a:extLst>
              <a:ext uri="{FF2B5EF4-FFF2-40B4-BE49-F238E27FC236}">
                <a16:creationId xmlns:a16="http://schemas.microsoft.com/office/drawing/2014/main" id="{FFBEC11D-5503-4566-8556-FDE38EA9E8B5}"/>
              </a:ext>
            </a:extLst>
          </p:cNvPr>
          <p:cNvSpPr txBox="1"/>
          <p:nvPr/>
        </p:nvSpPr>
        <p:spPr>
          <a:xfrm>
            <a:off x="7638190" y="1393994"/>
            <a:ext cx="3715610" cy="47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3" tooltip="pyspark.ml.clustering.KMea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KMeans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4" tooltip="pyspark.ml.clustering.L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LDA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5" tooltip="pyspark.ml.clustering.GaussianMix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GaussianMixture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6" tooltip="pyspark.ml.recommendation.A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ALS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7" tooltip="pyspark.ml.regression.DecisionTreeRegress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DecisionTreeRegressor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8" tooltip="pyspark.ml.regression.LinearRegre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LinearRegression</a:t>
            </a:r>
            <a:endParaRPr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9" tooltip="pyspark.ml.regression.RandomForestRegress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RandomForestRegressor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>
              <a:lnSpc>
                <a:spcPct val="142857"/>
              </a:lnSpc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0" tooltip="pyspark.ml.classification.LogisticRegre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LogisticRegression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>
              <a:lnSpc>
                <a:spcPct val="142857"/>
              </a:lnSpc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1" tooltip="pyspark.ml.classification.DecisionTreeClass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DecisionTreeClassifier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  <a:hlinkClick r:id="rId1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698500" lvl="0" indent="-295275">
              <a:lnSpc>
                <a:spcPct val="142857"/>
              </a:lnSpc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3" tooltip="pyspark.ml.classification.RandomForestClass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RandomForestClassifier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>
              <a:lnSpc>
                <a:spcPct val="142857"/>
              </a:lnSpc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4" tooltip="pyspark.ml.classification.NaiveBay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NaiveBayes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>
              <a:lnSpc>
                <a:spcPct val="142857"/>
              </a:lnSpc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5" tooltip="pyspark.ml.classification.OneVsR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OneVsRest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>
              <a:lnSpc>
                <a:spcPct val="142857"/>
              </a:lnSpc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16" tooltip="pyspark.ml.classification.MultilayerPerceptronClass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MultilayerPerceptronClassifier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</p:txBody>
      </p:sp>
    </p:spTree>
    <p:extLst>
      <p:ext uri="{BB962C8B-B14F-4D97-AF65-F5344CB8AC3E}">
        <p14:creationId xmlns:p14="http://schemas.microsoft.com/office/powerpoint/2010/main" val="3774096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F281-3045-03B0-D7CF-587A05BD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1BC44-23F9-EC26-02B0-40A709C3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ML. Evaluator</a:t>
            </a:r>
            <a:endParaRPr lang="ru-RU" dirty="0"/>
          </a:p>
        </p:txBody>
      </p:sp>
      <p:sp>
        <p:nvSpPr>
          <p:cNvPr id="5" name="Google Shape;228;p42">
            <a:extLst>
              <a:ext uri="{FF2B5EF4-FFF2-40B4-BE49-F238E27FC236}">
                <a16:creationId xmlns:a16="http://schemas.microsoft.com/office/drawing/2014/main" id="{68F9811F-5FDD-5D40-9CE8-DB9758CDE35B}"/>
              </a:ext>
            </a:extLst>
          </p:cNvPr>
          <p:cNvSpPr txBox="1"/>
          <p:nvPr/>
        </p:nvSpPr>
        <p:spPr>
          <a:xfrm>
            <a:off x="7246304" y="2654175"/>
            <a:ext cx="3876975" cy="194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98500" lvl="0" indent="-295275">
              <a:lnSpc>
                <a:spcPct val="142857"/>
              </a:lnSpc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2" tooltip="pyspark.ml.evaluation.BinaryClassificationEvalua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BinaryClassificationEvaluator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>
              <a:lnSpc>
                <a:spcPct val="142857"/>
              </a:lnSpc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3" tooltip="pyspark.ml.evaluation.RegressionEvalua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RegressionEvaluator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698500" lvl="0" indent="-295275">
              <a:lnSpc>
                <a:spcPct val="142857"/>
              </a:lnSpc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5" tooltip="pyspark.ml.evaluation.MulticlassClassificationEvalua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MulticlassClassificationEvaluator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>
              <a:lnSpc>
                <a:spcPct val="142857"/>
              </a:lnSpc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6" tooltip="pyspark.ml.evaluation.MultilabelClassificationEvalua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MultilabelClassificationEvaluator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  <a:p>
            <a:pPr marL="698500" lvl="0" indent="-295275">
              <a:lnSpc>
                <a:spcPct val="142857"/>
              </a:lnSpc>
              <a:buClr>
                <a:srgbClr val="1D1F22"/>
              </a:buClr>
              <a:buSzPts val="1050"/>
              <a:buChar char="●"/>
            </a:pPr>
            <a:r>
              <a:rPr lang="en" sz="1600" dirty="0">
                <a:solidFill>
                  <a:srgbClr val="0088CC"/>
                </a:solidFill>
                <a:highlight>
                  <a:srgbClr val="FFFFFF"/>
                </a:highlight>
                <a:uFill>
                  <a:noFill/>
                </a:uFill>
                <a:hlinkClick r:id="rId7" tooltip="pyspark.ml.evaluation.ClusteringEvalua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ClusteringEvaluator</a:t>
            </a:r>
            <a:endParaRPr lang="en" sz="1600" dirty="0">
              <a:solidFill>
                <a:srgbClr val="0088CC"/>
              </a:solidFill>
              <a:highlight>
                <a:srgbClr val="FFFFFF"/>
              </a:highlight>
              <a:uFill>
                <a:noFill/>
              </a:u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DF556B-DA6F-F522-98E8-283D143FD6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988" y="1590996"/>
            <a:ext cx="5762385" cy="472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88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BA519-7183-5223-EAFD-7D928F106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921357-0EFD-1AD5-4788-00E03B47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ML Workflow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E2E47B-D2AA-3EEC-F4E2-D9E1967F04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7" t="10665" r="2919"/>
          <a:stretch>
            <a:fillRect/>
          </a:stretch>
        </p:blipFill>
        <p:spPr>
          <a:xfrm>
            <a:off x="3014702" y="1621329"/>
            <a:ext cx="6162595" cy="459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48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41CE-C187-0136-DD47-1B23C6EE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E71719-2FD5-0DF7-8F52-1EC019CE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ML Pipeline</a:t>
            </a:r>
            <a:endParaRPr lang="ru-RU" dirty="0"/>
          </a:p>
        </p:txBody>
      </p:sp>
      <p:pic>
        <p:nvPicPr>
          <p:cNvPr id="3" name="Picture 2" descr="ML Pipeline Example">
            <a:extLst>
              <a:ext uri="{FF2B5EF4-FFF2-40B4-BE49-F238E27FC236}">
                <a16:creationId xmlns:a16="http://schemas.microsoft.com/office/drawing/2014/main" id="{92E8EFE9-93A1-681D-66F6-4BFE5F316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434" y="1668257"/>
            <a:ext cx="8321131" cy="2123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ML PipelineModel Example">
            <a:extLst>
              <a:ext uri="{FF2B5EF4-FFF2-40B4-BE49-F238E27FC236}">
                <a16:creationId xmlns:a16="http://schemas.microsoft.com/office/drawing/2014/main" id="{E22ADE24-E3BA-3E1C-20F9-E853790E9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435" y="4302611"/>
            <a:ext cx="8321130" cy="234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3420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127</Words>
  <Application>Microsoft Office PowerPoint</Application>
  <PresentationFormat>Широкоэкранный</PresentationFormat>
  <Paragraphs>56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 Neue</vt:lpstr>
      <vt:lpstr>Times New Roman</vt:lpstr>
      <vt:lpstr>Тема Office</vt:lpstr>
      <vt:lpstr>Industrial Machine Learning on Hadoop and Spark </vt:lpstr>
      <vt:lpstr>Distributed computing. Spark</vt:lpstr>
      <vt:lpstr>What do we want to do?</vt:lpstr>
      <vt:lpstr>What does Spark ML allow you to do?</vt:lpstr>
      <vt:lpstr>What does Spark ML allow you to do?</vt:lpstr>
      <vt:lpstr>Spark ML. Transformer</vt:lpstr>
      <vt:lpstr>Spark ML. Estimator</vt:lpstr>
      <vt:lpstr>Spark ML. Evaluator</vt:lpstr>
      <vt:lpstr>Spark ML Workflow</vt:lpstr>
      <vt:lpstr>Spark ML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Machine Learning on Hadoop and Spark</dc:title>
  <dc:creator>Maksim Nakhodnov</dc:creator>
  <cp:lastModifiedBy>Maksim Nakhodnov</cp:lastModifiedBy>
  <cp:revision>327</cp:revision>
  <dcterms:created xsi:type="dcterms:W3CDTF">2025-09-08T14:49:50Z</dcterms:created>
  <dcterms:modified xsi:type="dcterms:W3CDTF">2025-11-10T18:19:15Z</dcterms:modified>
</cp:coreProperties>
</file>