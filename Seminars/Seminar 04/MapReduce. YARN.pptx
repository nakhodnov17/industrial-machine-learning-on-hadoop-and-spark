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9" r:id="rId16"/>
    <p:sldId id="345" r:id="rId17"/>
    <p:sldId id="346" r:id="rId18"/>
    <p:sldId id="347" r:id="rId19"/>
    <p:sldId id="348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7" r:id="rId41"/>
    <p:sldId id="370" r:id="rId42"/>
    <p:sldId id="371" r:id="rId43"/>
    <p:sldId id="372" r:id="rId44"/>
    <p:sldId id="373" r:id="rId45"/>
    <p:sldId id="374" r:id="rId46"/>
    <p:sldId id="375" r:id="rId47"/>
    <p:sldId id="376" r:id="rId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 showGuides="1">
      <p:cViewPr varScale="1">
        <p:scale>
          <a:sx n="131" d="100"/>
          <a:sy n="131" d="100"/>
        </p:scale>
        <p:origin x="376" y="184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F6EAE-B82E-BC4A-BDEE-36473373A37A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70A5C-8A04-3A47-923A-D08A7CEE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45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31D5A-E201-7474-4B1A-5BD19B589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ACECF7-4DA8-CE55-6485-5F1F77C5D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84EDE-F261-5961-8FD2-B845DB46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1ADCB9-5366-F668-C6B4-917C6A2B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C08356-EC1C-C0AF-3442-4A2E7DFC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96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BE389-735E-A11E-F79E-7640FFA6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FDBF44-CAD3-B74E-10E4-A9BF562D4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DA6533-7671-1C9B-BA84-E5150465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52B4D0-3325-69B2-3960-6E71E567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6CF87-AB08-426F-0D53-3DBBE062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14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4122F-92D0-FC73-D26B-A821BF52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7618E2-109C-7CC6-8155-A55233859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23CCF2-8484-59BE-E69A-89874BCA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C9B669-7276-5091-A52D-22F85797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5CA5AD-BF3F-27BF-55E4-649A0CC0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82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9B833-9DC9-0B81-C4D9-6B42F2DD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877BDE-B32D-8958-29C3-D2A9F9AA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119958-D063-99B2-E2FB-30A66DD96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470D1E-2CCE-EEAF-B672-3A9E9D40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86A597-B7D1-ED62-3285-D364F0AF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470D36-BCC0-3261-B1F0-7D6B5A81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5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B1CC6-C706-B6C0-FDCB-FA94B910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3CBE6A-5B25-27D0-C684-29DB79D2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DF7E6A-40E3-46D1-9B43-52450371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35165E-9BAF-31E2-E4E8-01CCA24D0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B16CD3-56D3-A37F-56FB-CE97EA8B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7ED33E-EA87-D8F4-8992-401D344D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1F2D7E0-2878-41A1-0EC2-2B901487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9222BA-7D9B-88A0-B7E5-3BBA14C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54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90632-6D57-82C4-2334-6DFDE27C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D5B416-D99B-CA60-B9BA-29273A2A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8C257F-7982-2BE5-A531-70E7DF01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063ED8-ADAF-F272-99DD-66C03E21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4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43745E-ABFC-44E7-14B0-CB7766B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255CDFB-3A4E-79BA-93DA-AFA0361A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D84A93-B78B-7BF0-7AA4-7F685BD1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75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65BCE-05D7-FEFD-3533-C07B8BD8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11FC4-2EA3-6308-8156-C72F88AC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113F83-276C-691B-A16E-5E74F3316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739AA7-5F87-7737-D618-DE755B10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2F201D-5D8D-F270-7379-B9C69703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FBCD0D-823D-8001-7BDA-17B72BE3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51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CC6E7-F034-BA12-B3FB-BED1D63B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C78D401-37AC-6344-4558-04D562F93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357C2E-F25D-F67E-7554-5F758975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24F36D-DEC8-00E6-0287-01C503A3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6FBDD6-3BCC-9FE1-DC82-EA39E795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677A20-1D78-B2AE-AD62-ABBFEDE1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14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D4461-D3CB-615C-7987-4673B4D0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CF3012-741E-4439-39E5-C94A53DAA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3AED54-2280-AEF4-1870-59EA9000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83FE9-8983-5897-BB3B-E39F9FFE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79589F-B354-4ED6-6AAA-B1D90D37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67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D55CA7-3716-60C4-6659-BAA53780D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273567-58FC-40D3-90BB-9E2609103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B68AFA-4476-9BBD-3200-AEF1074E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E15B1D-1856-7580-F921-A5F9EA96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5C6A57-CD75-9D77-B2B2-E346F9CD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998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0508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97047-18CC-B795-F77F-282CCFD8D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4874D3-7A2D-F771-C8DF-F7BAF033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0163B5-2B4B-30D5-90A2-68163F268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63CEBD-2B04-9620-F1D7-51A9CE25B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199310-CB4C-7A92-B236-7EBB29C82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45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D94878-F624-767A-70EF-8946148807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29" b="-6088"/>
          <a:stretch/>
        </p:blipFill>
        <p:spPr>
          <a:xfrm>
            <a:off x="0" y="0"/>
            <a:ext cx="12192000" cy="734479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F8BB4-F5CF-1511-E969-809676AC8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179" y="3641967"/>
            <a:ext cx="10515600" cy="2189797"/>
          </a:xfrm>
        </p:spPr>
        <p:txBody>
          <a:bodyPr>
            <a:normAutofit fontScale="90000"/>
          </a:bodyPr>
          <a:lstStyle/>
          <a:p>
            <a:pPr algn="l"/>
            <a: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  <a:t>Industrial Machine Learning on Hadoop and Spark</a:t>
            </a:r>
            <a:b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</a:br>
            <a:endParaRPr lang="ru-RU" b="1" dirty="0">
              <a:ln w="22225">
                <a:solidFill>
                  <a:schemeClr val="bg1"/>
                </a:solidFill>
                <a:prstDash val="solid"/>
              </a:ln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E0D339-4BFD-3D45-CBF6-BC315474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21672" y="6129627"/>
            <a:ext cx="5648960" cy="378902"/>
          </a:xfrm>
        </p:spPr>
        <p:txBody>
          <a:bodyPr>
            <a:normAutofit/>
          </a:bodyPr>
          <a:lstStyle/>
          <a:p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Maks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Nakhodnov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, Bremen 2025</a:t>
            </a:r>
            <a:endParaRPr lang="en" sz="20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89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92E03-FC92-52CB-17FF-7BE9F450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4400" dirty="0">
                <a:ea typeface="Times New Roman"/>
                <a:cs typeface="Times New Roman" panose="02020603050405020304" pitchFamily="18" charset="0"/>
                <a:sym typeface="Times New Roman"/>
              </a:rPr>
              <a:t>Distributed computing</a:t>
            </a:r>
            <a:r>
              <a:rPr lang="ru-RU" sz="4400" dirty="0">
                <a:ea typeface="Times New Roman"/>
                <a:cs typeface="Times New Roman" panose="02020603050405020304" pitchFamily="18" charset="0"/>
                <a:sym typeface="Times New Roman"/>
              </a:rPr>
              <a:t>. </a:t>
            </a:r>
            <a:r>
              <a:rPr lang="en-US" sz="4400" err="1">
                <a:ea typeface="Times New Roman"/>
                <a:cs typeface="Times New Roman" panose="02020603050405020304" pitchFamily="18" charset="0"/>
                <a:sym typeface="Times New Roman"/>
              </a:rPr>
              <a:t>MapReduce</a:t>
            </a:r>
            <a:r>
              <a:rPr lang="en-US" sz="4400">
                <a:ea typeface="Times New Roman"/>
                <a:cs typeface="Times New Roman" panose="02020603050405020304" pitchFamily="18" charset="0"/>
                <a:sym typeface="Times New Roman"/>
              </a:rPr>
              <a:t>. YARN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A7CED-94F3-7500-3D48-5CF5EB0D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dirty="0"/>
              <a:t> Plan:</a:t>
            </a:r>
          </a:p>
          <a:p>
            <a:pPr marL="0" indent="0">
              <a:buNone/>
            </a:pPr>
            <a:r>
              <a:rPr lang="en" dirty="0"/>
              <a:t>How to process big data?</a:t>
            </a:r>
          </a:p>
          <a:p>
            <a:pPr lvl="1"/>
            <a:r>
              <a:rPr lang="en-US" dirty="0"/>
              <a:t>Hadoop Streaming</a:t>
            </a:r>
          </a:p>
          <a:p>
            <a:pPr lvl="1"/>
            <a:r>
              <a:rPr lang="en-US" dirty="0"/>
              <a:t>Word Count Example</a:t>
            </a:r>
          </a:p>
          <a:p>
            <a:pPr lvl="1"/>
            <a:r>
              <a:rPr lang="en-US" dirty="0"/>
              <a:t>MapReduce v1.0, YARN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19353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Hadoop Streaming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7D28-FB34-8003-A743-9A21579AB748}"/>
              </a:ext>
            </a:extLst>
          </p:cNvPr>
          <p:cNvSpPr txBox="1"/>
          <p:nvPr/>
        </p:nvSpPr>
        <p:spPr>
          <a:xfrm>
            <a:off x="694064" y="2016087"/>
            <a:ext cx="89677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Hadoop MapReduce has native implementations for:</a:t>
            </a:r>
          </a:p>
          <a:p>
            <a:pPr lvl="1"/>
            <a:r>
              <a:rPr lang="en-US" sz="2800" dirty="0"/>
              <a:t>	- Java, C++, Scala</a:t>
            </a:r>
          </a:p>
          <a:p>
            <a:pPr lvl="1"/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 Python API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Hadoop Streaming — a wrapper for the Java API for Python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Downside: purely textual data transfer</a:t>
            </a:r>
          </a:p>
        </p:txBody>
      </p:sp>
    </p:spTree>
    <p:extLst>
      <p:ext uri="{BB962C8B-B14F-4D97-AF65-F5344CB8AC3E}">
        <p14:creationId xmlns:p14="http://schemas.microsoft.com/office/powerpoint/2010/main" val="300654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Hadoop Streaming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7D28-FB34-8003-A743-9A21579AB748}"/>
              </a:ext>
            </a:extLst>
          </p:cNvPr>
          <p:cNvSpPr txBox="1"/>
          <p:nvPr/>
        </p:nvSpPr>
        <p:spPr>
          <a:xfrm>
            <a:off x="672030" y="1285967"/>
            <a:ext cx="93643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Mapper, Reducer, … receive the input from </a:t>
            </a:r>
            <a:r>
              <a:rPr lang="en-US" sz="2800" i="1" dirty="0"/>
              <a:t>stdin</a:t>
            </a:r>
            <a:r>
              <a:rPr lang="en-US" sz="2800" dirty="0"/>
              <a:t> and write to </a:t>
            </a:r>
            <a:r>
              <a:rPr lang="en-US" sz="2800" i="1" dirty="0" err="1"/>
              <a:t>stdout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Mapper processes input line-by-line and writes the output KV pair, separating using &lt;TAB&gt;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Reducer receives sorted by key KV pairs (instead of the values list)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Roughly equal to: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b="1" dirty="0"/>
              <a:t>$cat input | python </a:t>
            </a:r>
            <a:r>
              <a:rPr lang="en-US" sz="2800" b="1" dirty="0" err="1"/>
              <a:t>map.py</a:t>
            </a:r>
            <a:r>
              <a:rPr lang="en-US" sz="2800" b="1" dirty="0"/>
              <a:t> | sort | python </a:t>
            </a:r>
            <a:r>
              <a:rPr lang="en-US" sz="2800" b="1" dirty="0" err="1"/>
              <a:t>reduce.py</a:t>
            </a:r>
            <a:br>
              <a:rPr lang="en-US" sz="2800" b="1" dirty="0"/>
            </a:b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 of the 9 parts of the MapReduce workflow can be adjusted using command-line keys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https://</a:t>
            </a:r>
            <a:r>
              <a:rPr lang="en-US" sz="2800" dirty="0" err="1"/>
              <a:t>hadoop.apache.org</a:t>
            </a:r>
            <a:r>
              <a:rPr lang="en-US" sz="2800" dirty="0"/>
              <a:t>/docs/r1.2.1/</a:t>
            </a:r>
            <a:r>
              <a:rPr lang="en-US" sz="2800" dirty="0" err="1"/>
              <a:t>streaming.html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257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Word Count I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7D28-FB34-8003-A743-9A21579AB748}"/>
              </a:ext>
            </a:extLst>
          </p:cNvPr>
          <p:cNvSpPr txBox="1"/>
          <p:nvPr/>
        </p:nvSpPr>
        <p:spPr>
          <a:xfrm>
            <a:off x="672030" y="1642772"/>
            <a:ext cx="9364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Count the number of occurrences of each word in the text corpus: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B6F8C7-E6BC-E7D1-C850-35A7EA92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33" y="2078611"/>
            <a:ext cx="7855027" cy="584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CF490-9D04-8174-DD31-7B86FFC02D11}"/>
              </a:ext>
            </a:extLst>
          </p:cNvPr>
          <p:cNvSpPr txBox="1"/>
          <p:nvPr/>
        </p:nvSpPr>
        <p:spPr>
          <a:xfrm>
            <a:off x="672030" y="3132525"/>
            <a:ext cx="52991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The simplest implementation:</a:t>
            </a:r>
            <a:br>
              <a:rPr lang="en-US" sz="2800" dirty="0"/>
            </a:br>
            <a:br>
              <a:rPr lang="en-US" sz="2800" dirty="0"/>
            </a:br>
            <a:r>
              <a:rPr lang="en" sz="2800" dirty="0"/>
              <a:t>The problem is that too much data is being transferred between the map and reduce phases.</a:t>
            </a:r>
          </a:p>
          <a:p>
            <a:pPr algn="just"/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951ECC-FAB9-5AC8-89F8-73BED7C70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96" y="3040655"/>
            <a:ext cx="5299111" cy="338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94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Word Count II. Combiner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7D28-FB34-8003-A743-9A21579AB748}"/>
              </a:ext>
            </a:extLst>
          </p:cNvPr>
          <p:cNvSpPr txBox="1"/>
          <p:nvPr/>
        </p:nvSpPr>
        <p:spPr>
          <a:xfrm>
            <a:off x="672030" y="1642772"/>
            <a:ext cx="9364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Count the number of occurrences of each word in the text corpus: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B6F8C7-E6BC-E7D1-C850-35A7EA92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33" y="2078611"/>
            <a:ext cx="7855027" cy="584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CF490-9D04-8174-DD31-7B86FFC02D11}"/>
              </a:ext>
            </a:extLst>
          </p:cNvPr>
          <p:cNvSpPr txBox="1"/>
          <p:nvPr/>
        </p:nvSpPr>
        <p:spPr>
          <a:xfrm>
            <a:off x="672030" y="3132525"/>
            <a:ext cx="52991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The Combiner function is optional and can be used to optimize the process by reducing the amount of data transferred between the map and reduce phases: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856E32-51D8-9F5D-E80F-7C997A8B1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60" y="3264168"/>
            <a:ext cx="5703007" cy="211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75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Word Count III. In-mapper combiner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7D28-FB34-8003-A743-9A21579AB748}"/>
              </a:ext>
            </a:extLst>
          </p:cNvPr>
          <p:cNvSpPr txBox="1"/>
          <p:nvPr/>
        </p:nvSpPr>
        <p:spPr>
          <a:xfrm>
            <a:off x="672030" y="1642772"/>
            <a:ext cx="9364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Count the number of occurrences of each word in the text corpus: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B6F8C7-E6BC-E7D1-C850-35A7EA92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33" y="2078611"/>
            <a:ext cx="7855027" cy="584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CF490-9D04-8174-DD31-7B86FFC02D11}"/>
              </a:ext>
            </a:extLst>
          </p:cNvPr>
          <p:cNvSpPr txBox="1"/>
          <p:nvPr/>
        </p:nvSpPr>
        <p:spPr>
          <a:xfrm>
            <a:off x="672030" y="3132525"/>
            <a:ext cx="52991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The next problem is that the map function is emitting too many intermediate key-value pairs.</a:t>
            </a:r>
          </a:p>
          <a:p>
            <a:pPr algn="just"/>
            <a:r>
              <a:rPr lang="en-US" sz="2800" dirty="0"/>
              <a:t>We can optimize the map function by using a local aggregation technique: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874C69-16D3-1D92-0DD5-707315D69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60" y="3331092"/>
            <a:ext cx="5555540" cy="237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14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Word Count III. In-mapper combiner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7D28-FB34-8003-A743-9A21579AB748}"/>
              </a:ext>
            </a:extLst>
          </p:cNvPr>
          <p:cNvSpPr txBox="1"/>
          <p:nvPr/>
        </p:nvSpPr>
        <p:spPr>
          <a:xfrm>
            <a:off x="672030" y="1642772"/>
            <a:ext cx="9364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Count the number of occurrences of each word in the text corpus: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B6F8C7-E6BC-E7D1-C850-35A7EA92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33" y="2078611"/>
            <a:ext cx="7855027" cy="584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CF490-9D04-8174-DD31-7B86FFC02D11}"/>
              </a:ext>
            </a:extLst>
          </p:cNvPr>
          <p:cNvSpPr txBox="1"/>
          <p:nvPr/>
        </p:nvSpPr>
        <p:spPr>
          <a:xfrm>
            <a:off x="672030" y="2882684"/>
            <a:ext cx="871434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The number of intermediate key-value pairs emitted by the map function (+ the amount of data transferred between the map and reduce phases) is reduced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The local aggregation should not use too much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If a document is too large, we may need to flush the local aggregation to the output periodically</a:t>
            </a:r>
          </a:p>
        </p:txBody>
      </p:sp>
    </p:spTree>
    <p:extLst>
      <p:ext uri="{BB962C8B-B14F-4D97-AF65-F5344CB8AC3E}">
        <p14:creationId xmlns:p14="http://schemas.microsoft.com/office/powerpoint/2010/main" val="3427368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Word Count IV. In-mapper combiner V2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7D28-FB34-8003-A743-9A21579AB748}"/>
              </a:ext>
            </a:extLst>
          </p:cNvPr>
          <p:cNvSpPr txBox="1"/>
          <p:nvPr/>
        </p:nvSpPr>
        <p:spPr>
          <a:xfrm>
            <a:off x="672030" y="1642772"/>
            <a:ext cx="9364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Count the number of occurrences of each word in the text corpus: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B6F8C7-E6BC-E7D1-C850-35A7EA92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33" y="2078611"/>
            <a:ext cx="7855027" cy="584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CF490-9D04-8174-DD31-7B86FFC02D11}"/>
              </a:ext>
            </a:extLst>
          </p:cNvPr>
          <p:cNvSpPr txBox="1"/>
          <p:nvPr/>
        </p:nvSpPr>
        <p:spPr>
          <a:xfrm>
            <a:off x="672030" y="2688747"/>
            <a:ext cx="52991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sz="2400" dirty="0"/>
              <a:t>If the number of distinct words is small, we can reuse the same dictionary for different documents:</a:t>
            </a:r>
          </a:p>
          <a:p>
            <a:pPr algn="just"/>
            <a:endParaRPr lang="en" sz="2400" dirty="0"/>
          </a:p>
          <a:p>
            <a:pPr algn="just"/>
            <a:r>
              <a:rPr lang="en" sz="2400" dirty="0"/>
              <a:t>We have to flush the dictionary periodically to avoid OOM</a:t>
            </a:r>
          </a:p>
          <a:p>
            <a:pPr algn="just"/>
            <a:endParaRPr lang="en" sz="2400" dirty="0"/>
          </a:p>
          <a:p>
            <a:pPr algn="just"/>
            <a:r>
              <a:rPr lang="en" sz="2400" dirty="0"/>
              <a:t>The dictionary can be initialized from local FC to implement  tricky behavior (i.e., Map-side join), or be broadcast using --files CLI flag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19DF2A-B784-A707-4372-E60E471BF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00" y="2882684"/>
            <a:ext cx="5384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41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Resource Management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F52D6-81B5-9A9D-FEEA-659B12E3878B}"/>
              </a:ext>
            </a:extLst>
          </p:cNvPr>
          <p:cNvSpPr txBox="1"/>
          <p:nvPr/>
        </p:nvSpPr>
        <p:spPr>
          <a:xfrm>
            <a:off x="564204" y="1809345"/>
            <a:ext cx="964892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en" sz="2400" dirty="0"/>
              <a:t>How many mappers and reducers should be launched, when, and where?</a:t>
            </a:r>
          </a:p>
          <a:p>
            <a:pPr>
              <a:buFont typeface="+mj-lt"/>
              <a:buAutoNum type="arabicPeriod"/>
            </a:pPr>
            <a:endParaRPr lang="en" sz="2400" dirty="0"/>
          </a:p>
          <a:p>
            <a:pPr>
              <a:buFont typeface="+mj-lt"/>
              <a:buAutoNum type="arabicPeriod"/>
            </a:pPr>
            <a:r>
              <a:rPr lang="en" sz="2400" dirty="0"/>
              <a:t> What resources should be allocated for task execution?</a:t>
            </a:r>
          </a:p>
          <a:p>
            <a:pPr>
              <a:buFont typeface="+mj-lt"/>
              <a:buAutoNum type="arabicPeriod"/>
            </a:pPr>
            <a:endParaRPr lang="en" sz="2400" dirty="0"/>
          </a:p>
          <a:p>
            <a:pPr>
              <a:buFont typeface="+mj-lt"/>
              <a:buAutoNum type="arabicPeriod"/>
            </a:pPr>
            <a:r>
              <a:rPr lang="en" sz="2400" dirty="0"/>
              <a:t> How can the execution of the task be monitored?</a:t>
            </a:r>
          </a:p>
          <a:p>
            <a:pPr>
              <a:buFont typeface="+mj-lt"/>
              <a:buAutoNum type="arabicPeriod"/>
            </a:pPr>
            <a:endParaRPr lang="en" sz="2400" dirty="0"/>
          </a:p>
          <a:p>
            <a:pPr>
              <a:buFont typeface="+mj-lt"/>
              <a:buAutoNum type="arabicPeriod"/>
            </a:pPr>
            <a:r>
              <a:rPr lang="en" sz="2400" dirty="0"/>
              <a:t> How should the executable code be delivered to the workers?</a:t>
            </a:r>
          </a:p>
          <a:p>
            <a:pPr>
              <a:buFont typeface="+mj-lt"/>
              <a:buAutoNum type="arabicPeriod"/>
            </a:pPr>
            <a:endParaRPr lang="en" sz="2400" dirty="0"/>
          </a:p>
          <a:p>
            <a:pPr>
              <a:buFont typeface="+mj-lt"/>
              <a:buAutoNum type="arabicPeriod"/>
            </a:pPr>
            <a:r>
              <a:rPr lang="en" sz="2400" dirty="0"/>
              <a:t> How should the task execution process be logged?</a:t>
            </a:r>
          </a:p>
          <a:p>
            <a:pPr>
              <a:buFont typeface="+mj-lt"/>
              <a:buAutoNum type="arabicPeriod"/>
            </a:pPr>
            <a:endParaRPr lang="en" sz="2400" dirty="0"/>
          </a:p>
          <a:p>
            <a:pPr>
              <a:buFont typeface="+mj-lt"/>
              <a:buAutoNum type="arabicPeriod"/>
            </a:pPr>
            <a:r>
              <a:rPr lang="en" sz="2400" dirty="0"/>
              <a:t> What actions should be taken in case of failures?</a:t>
            </a:r>
          </a:p>
        </p:txBody>
      </p:sp>
    </p:spTree>
    <p:extLst>
      <p:ext uri="{BB962C8B-B14F-4D97-AF65-F5344CB8AC3E}">
        <p14:creationId xmlns:p14="http://schemas.microsoft.com/office/powerpoint/2010/main" val="38050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MapReduce V1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2B3A47-B609-6318-EE9F-C98E3EE4D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647622"/>
            <a:ext cx="89535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27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MapReduce V1. </a:t>
            </a:r>
            <a:r>
              <a:rPr lang="en-US" dirty="0" err="1"/>
              <a:t>JobTracker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532AD-4753-8009-EE48-EB5B6C633C8C}"/>
              </a:ext>
            </a:extLst>
          </p:cNvPr>
          <p:cNvSpPr txBox="1"/>
          <p:nvPr/>
        </p:nvSpPr>
        <p:spPr>
          <a:xfrm>
            <a:off x="662301" y="1484819"/>
            <a:ext cx="81606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3200" dirty="0"/>
              <a:t>Manages task execution and determines on which </a:t>
            </a:r>
            <a:r>
              <a:rPr lang="en" sz="3200" dirty="0" err="1"/>
              <a:t>TaskTracker</a:t>
            </a:r>
            <a:r>
              <a:rPr lang="en" sz="3200" dirty="0"/>
              <a:t> a worker will run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3200" dirty="0"/>
              <a:t>Controls the MapReduce job execution process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3200" dirty="0"/>
              <a:t>Monitors task progress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3200" dirty="0"/>
              <a:t>Restarts failed or slow tasks</a:t>
            </a:r>
          </a:p>
        </p:txBody>
      </p:sp>
    </p:spTree>
    <p:extLst>
      <p:ext uri="{BB962C8B-B14F-4D97-AF65-F5344CB8AC3E}">
        <p14:creationId xmlns:p14="http://schemas.microsoft.com/office/powerpoint/2010/main" val="3338664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MapReduce V1. </a:t>
            </a:r>
            <a:r>
              <a:rPr lang="en-US" dirty="0" err="1"/>
              <a:t>TaskTracker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28552-52AB-240F-7813-0A1257A85CA0}"/>
              </a:ext>
            </a:extLst>
          </p:cNvPr>
          <p:cNvSpPr txBox="1"/>
          <p:nvPr/>
        </p:nvSpPr>
        <p:spPr>
          <a:xfrm>
            <a:off x="691483" y="1484819"/>
            <a:ext cx="87638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3200" dirty="0"/>
              <a:t>Manages all workers on a single server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3200" dirty="0"/>
              <a:t>Receives information from the </a:t>
            </a:r>
            <a:r>
              <a:rPr lang="en" sz="3200" dirty="0" err="1"/>
              <a:t>JobTracker</a:t>
            </a:r>
            <a:r>
              <a:rPr lang="en" sz="3200" dirty="0"/>
              <a:t> about which worker to run on which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3200" dirty="0"/>
              <a:t>Sends progress statistics (counters) to the </a:t>
            </a:r>
            <a:r>
              <a:rPr lang="en" sz="3200" dirty="0" err="1"/>
              <a:t>JobTracker</a:t>
            </a:r>
            <a:endParaRPr lang="e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3200" dirty="0"/>
              <a:t>Reports to the </a:t>
            </a:r>
            <a:r>
              <a:rPr lang="en" sz="3200" dirty="0" err="1"/>
              <a:t>JobTracker</a:t>
            </a:r>
            <a:r>
              <a:rPr lang="en" sz="3200" dirty="0"/>
              <a:t> on successful completion or failure of workers</a:t>
            </a:r>
          </a:p>
        </p:txBody>
      </p:sp>
    </p:spTree>
    <p:extLst>
      <p:ext uri="{BB962C8B-B14F-4D97-AF65-F5344CB8AC3E}">
        <p14:creationId xmlns:p14="http://schemas.microsoft.com/office/powerpoint/2010/main" val="1148471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MapReduce V1. Resource distribution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28552-52AB-240F-7813-0A1257A85CA0}"/>
              </a:ext>
            </a:extLst>
          </p:cNvPr>
          <p:cNvSpPr txBox="1"/>
          <p:nvPr/>
        </p:nvSpPr>
        <p:spPr>
          <a:xfrm>
            <a:off x="691483" y="1756424"/>
            <a:ext cx="854006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dirty="0"/>
              <a:t>The main drawback is the rigid resource distribution between the mapper and the reducer nodes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dirty="0"/>
              <a:t>The slots system:</a:t>
            </a:r>
          </a:p>
          <a:p>
            <a:pPr marL="800100" lvl="1" indent="-342900">
              <a:buFontTx/>
              <a:buChar char="-"/>
            </a:pPr>
            <a:r>
              <a:rPr lang="en" sz="2000" dirty="0"/>
              <a:t>A task runs in one slot</a:t>
            </a:r>
          </a:p>
          <a:p>
            <a:pPr marL="800100" lvl="1" indent="-342900">
              <a:buFontTx/>
              <a:buChar char="-"/>
            </a:pPr>
            <a:r>
              <a:rPr lang="en" sz="2000" dirty="0"/>
              <a:t>Each </a:t>
            </a:r>
            <a:r>
              <a:rPr lang="en" sz="2000" dirty="0" err="1"/>
              <a:t>TaskTracker</a:t>
            </a:r>
            <a:r>
              <a:rPr lang="en" sz="2000" dirty="0"/>
              <a:t> has a defined number of slots</a:t>
            </a:r>
          </a:p>
          <a:p>
            <a:pPr marL="800100" lvl="1" indent="-342900">
              <a:buFontTx/>
              <a:buChar char="-"/>
            </a:pPr>
            <a:r>
              <a:rPr lang="en" sz="2000" dirty="0"/>
              <a:t>Each slot has a defined amount of RAM allocated</a:t>
            </a:r>
          </a:p>
          <a:p>
            <a:pPr marL="800100" lvl="1" indent="-342900">
              <a:buFontTx/>
              <a:buChar char="-"/>
            </a:pPr>
            <a:r>
              <a:rPr lang="en" sz="2000" dirty="0"/>
              <a:t>Mappers + Reducers = N slots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dirty="0"/>
              <a:t>The distribution can be changed only on the cluster restart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Limited horizontal scaling: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4000 nodes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40000 parallel tasks</a:t>
            </a:r>
            <a:endParaRPr lang="en" sz="2000" dirty="0"/>
          </a:p>
        </p:txBody>
      </p:sp>
    </p:spTree>
    <p:extLst>
      <p:ext uri="{BB962C8B-B14F-4D97-AF65-F5344CB8AC3E}">
        <p14:creationId xmlns:p14="http://schemas.microsoft.com/office/powerpoint/2010/main" val="2126693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MapReduce V1. Resource distribution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90CEB6-F9B4-E812-A200-0CD0D847A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94" y="1499409"/>
            <a:ext cx="9445557" cy="50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38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MapReduce V1. Rigid distribution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28552-52AB-240F-7813-0A1257A85CA0}"/>
              </a:ext>
            </a:extLst>
          </p:cNvPr>
          <p:cNvSpPr txBox="1"/>
          <p:nvPr/>
        </p:nvSpPr>
        <p:spPr>
          <a:xfrm>
            <a:off x="691483" y="1619614"/>
            <a:ext cx="85400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400" dirty="0"/>
              <a:t>Example: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10 nodes, 16 cores each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TT requires 1 core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300 mappers, each mapper works for 10 minutes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The single reducer finishes in 100 minutes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/>
              <a:t>How to choose the number of mappers and reducers?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B8D234-0EB0-0C5D-AB8E-4E306E196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149" y="4190585"/>
            <a:ext cx="8229600" cy="79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86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MapReduce V1. Per task distribution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28552-52AB-240F-7813-0A1257A85CA0}"/>
              </a:ext>
            </a:extLst>
          </p:cNvPr>
          <p:cNvSpPr txBox="1"/>
          <p:nvPr/>
        </p:nvSpPr>
        <p:spPr>
          <a:xfrm>
            <a:off x="691483" y="1619614"/>
            <a:ext cx="85400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400" dirty="0"/>
              <a:t>Example: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10 nodes, 16 cores each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TT requires 10 cores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300 mappers, each mapper works for 10 minutes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The single reducer finishes in 100 minutes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/>
              <a:t>How to choose the number of mappers and reducers?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3C77FF-0D52-9CDC-C431-C0702E774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995" y="4260486"/>
            <a:ext cx="73914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20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MapReduce V1. No distribution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28552-52AB-240F-7813-0A1257A85CA0}"/>
              </a:ext>
            </a:extLst>
          </p:cNvPr>
          <p:cNvSpPr txBox="1"/>
          <p:nvPr/>
        </p:nvSpPr>
        <p:spPr>
          <a:xfrm>
            <a:off x="691483" y="1619614"/>
            <a:ext cx="85400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400" dirty="0"/>
              <a:t>Example: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10 nodes, 16 cores each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TT requires 10 cores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300 mappers, each mapper works for 10 minutes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The single reducer finishes in 100 minutes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/>
              <a:t>How to choose the number of mappers and reducers?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2796B4-0A2E-F068-F2A7-416189722A9C}"/>
              </a:ext>
            </a:extLst>
          </p:cNvPr>
          <p:cNvSpPr txBox="1"/>
          <p:nvPr/>
        </p:nvSpPr>
        <p:spPr>
          <a:xfrm>
            <a:off x="642026" y="5311302"/>
            <a:ext cx="37032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The solution — YARN</a:t>
            </a:r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3AC1CF-D125-2AFD-1E5E-44BC60B72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16" y="4187820"/>
            <a:ext cx="50165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92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91F07E-3CEE-7A6A-DB09-7F99BD990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415" y="3154796"/>
            <a:ext cx="6965410" cy="33934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D1AB98-C935-B5E0-6E2F-A65E906A9F49}"/>
              </a:ext>
            </a:extLst>
          </p:cNvPr>
          <p:cNvSpPr txBox="1"/>
          <p:nvPr/>
        </p:nvSpPr>
        <p:spPr>
          <a:xfrm>
            <a:off x="661480" y="1613118"/>
            <a:ext cx="71790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Takes over resource management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Can run different types of tasks</a:t>
            </a:r>
            <a:r>
              <a:rPr lang="ru-RU" sz="2800" dirty="0"/>
              <a:t> </a:t>
            </a:r>
            <a:r>
              <a:rPr lang="en" sz="2800" i="1" dirty="0"/>
              <a:t>(MapReduce is one of the options)</a:t>
            </a: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24525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Resource Manager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1AB98-C935-B5E0-6E2F-A65E906A9F49}"/>
              </a:ext>
            </a:extLst>
          </p:cNvPr>
          <p:cNvSpPr txBox="1"/>
          <p:nvPr/>
        </p:nvSpPr>
        <p:spPr>
          <a:xfrm>
            <a:off x="632297" y="1356967"/>
            <a:ext cx="717901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Runs on a dedicated server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Manages global resource allocation</a:t>
            </a:r>
          </a:p>
          <a:p>
            <a:pPr marL="914400" lvl="1" indent="-457200">
              <a:buFontTx/>
              <a:buChar char="-"/>
            </a:pPr>
            <a:r>
              <a:rPr lang="en" sz="2800" dirty="0"/>
              <a:t>Manages nodes</a:t>
            </a:r>
          </a:p>
          <a:p>
            <a:pPr marL="914400" lvl="1" indent="-457200">
              <a:buFontTx/>
              <a:buChar char="-"/>
            </a:pPr>
            <a:r>
              <a:rPr lang="en" sz="2800" dirty="0"/>
              <a:t>Manages containers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Resolves conflicts between competing applications</a:t>
            </a:r>
          </a:p>
          <a:p>
            <a:pPr marL="914400" lvl="1" indent="-457200">
              <a:buFontTx/>
              <a:buChar char="-"/>
            </a:pPr>
            <a:r>
              <a:rPr lang="en" sz="2800" dirty="0"/>
              <a:t>Interacts with the </a:t>
            </a:r>
            <a:r>
              <a:rPr lang="en" sz="2800" dirty="0" err="1"/>
              <a:t>ApplicationMaster</a:t>
            </a:r>
            <a:endParaRPr lang="en" sz="2800" dirty="0"/>
          </a:p>
          <a:p>
            <a:pPr marL="914400" lvl="1" indent="-457200">
              <a:buFontTx/>
              <a:buChar char="-"/>
            </a:pPr>
            <a:r>
              <a:rPr lang="en" sz="2800" dirty="0"/>
              <a:t>Doesn’t know the application type</a:t>
            </a:r>
          </a:p>
          <a:p>
            <a:pPr marL="914400" lvl="1" indent="-457200">
              <a:buFontTx/>
              <a:buChar char="-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Responsible for data protection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8CA03B-AE26-DAC2-06E0-EF523F954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976" y="2201863"/>
            <a:ext cx="3390900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0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Node Manager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1AB98-C935-B5E0-6E2F-A65E906A9F49}"/>
              </a:ext>
            </a:extLst>
          </p:cNvPr>
          <p:cNvSpPr txBox="1"/>
          <p:nvPr/>
        </p:nvSpPr>
        <p:spPr>
          <a:xfrm>
            <a:off x="661480" y="1607639"/>
            <a:ext cx="71790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Runs on all nodes in the cluster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Interacts with the </a:t>
            </a:r>
            <a:r>
              <a:rPr lang="en" sz="2800" dirty="0" err="1"/>
              <a:t>ResourceManager</a:t>
            </a: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Manages processes inside containers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Logs application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Maintains ACL-based security at the node level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CC9635-7DBB-F868-1A10-DC2B3938F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420" y="1154113"/>
            <a:ext cx="30861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44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Containers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1AB98-C935-B5E0-6E2F-A65E906A9F49}"/>
              </a:ext>
            </a:extLst>
          </p:cNvPr>
          <p:cNvSpPr txBox="1"/>
          <p:nvPr/>
        </p:nvSpPr>
        <p:spPr>
          <a:xfrm>
            <a:off x="661480" y="1613118"/>
            <a:ext cx="717901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Created by RM on demand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Reserves a specific amount of resources on the node (memory, CPU)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Application runs in one or multiple containers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153750-97CB-CB4D-B2B5-60635DCCB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269" y="2449513"/>
            <a:ext cx="40005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33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Application Master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1AB98-C935-B5E0-6E2F-A65E906A9F49}"/>
              </a:ext>
            </a:extLst>
          </p:cNvPr>
          <p:cNvSpPr txBox="1"/>
          <p:nvPr/>
        </p:nvSpPr>
        <p:spPr>
          <a:xfrm>
            <a:off x="661480" y="1613118"/>
            <a:ext cx="71790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One per application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Depends on the type of task (has a dedicated one for MapReduce jobs)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Runs inside a container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Requests additional containers to execute the application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BB7E7E-4DB7-7A8A-0782-A1FD82CB2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742" y="2463800"/>
            <a:ext cx="41021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930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Workflow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7B5755-F926-315A-FED6-D1078BEE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356" y="1356967"/>
            <a:ext cx="9531890" cy="521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82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Workflow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F0670D-F60A-B7BC-B213-82D1001FB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851" y="1595334"/>
            <a:ext cx="9186486" cy="49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27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Workflow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0D3BD9-4EBF-6F28-D446-F4872B77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27" y="1617206"/>
            <a:ext cx="9113196" cy="491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06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Workflow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A39E9D-CB4D-FEBA-8708-14250A548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94" y="1506908"/>
            <a:ext cx="9397460" cy="499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85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Workflow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E1AA87-78B0-4DC7-FD6E-4FAD6609F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083" y="1712654"/>
            <a:ext cx="8884866" cy="468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77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Resource allocation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18C9DF-0A3E-2551-FA38-5B4ED3900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70" y="1848254"/>
            <a:ext cx="9869540" cy="415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93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Container allocation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9CA1CC-E501-AB16-191C-CB69A36B7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752600"/>
            <a:ext cx="106299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24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MapReduce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8CBBB8-88F4-F0B2-0445-D4D4EEB6D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00" y="1594322"/>
            <a:ext cx="9529999" cy="489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95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MapReduce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9C22EE-8962-5581-72C7-ED579A025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31" y="1635288"/>
            <a:ext cx="9510138" cy="482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75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MapReduce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A16C61-F96F-08B9-A381-D3CBA4A6F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986" y="1708583"/>
            <a:ext cx="9014028" cy="464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18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MapReduce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2F9244-0735-B755-9A53-1C5BECCA0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817" y="1624520"/>
            <a:ext cx="9408115" cy="479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34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MapReduce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093CF7-4F4E-AAED-8339-873B3A389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798" y="1553267"/>
            <a:ext cx="9662403" cy="494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4795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MapReduce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E015EA-A56D-83F4-6B90-11D52A8DB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895" y="1498059"/>
            <a:ext cx="9714765" cy="500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28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MapReduce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1DEDBA-2DAC-5FE6-7CA8-562BDD805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21" y="1632550"/>
            <a:ext cx="9293157" cy="498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86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MapReduce. Shuffle Service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E2C15D-7C1B-3B2E-703B-FCEB9849F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94" y="1439693"/>
            <a:ext cx="4850102" cy="4985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4C2AE3-AF9F-D39F-9C27-8090E9D545A4}"/>
              </a:ext>
            </a:extLst>
          </p:cNvPr>
          <p:cNvSpPr txBox="1"/>
          <p:nvPr/>
        </p:nvSpPr>
        <p:spPr>
          <a:xfrm>
            <a:off x="457199" y="1545025"/>
            <a:ext cx="55544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A separate </a:t>
            </a:r>
            <a:r>
              <a:rPr lang="en" sz="2400" b="1" dirty="0" err="1"/>
              <a:t>NodeManager</a:t>
            </a:r>
            <a:r>
              <a:rPr lang="en" sz="2400" dirty="0"/>
              <a:t> process on the node that remains available even if the Mapper has finished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Without the shuffle service, local Map output files could be unavailable —&gt; the Reduce task will fail.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Responsibilities of the shuffle service: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Access authorization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Maintaining a cache on the local disk</a:t>
            </a:r>
          </a:p>
          <a:p>
            <a:pPr marL="800100" lvl="1" indent="-342900">
              <a:buFontTx/>
              <a:buChar char="-"/>
            </a:pPr>
            <a:r>
              <a:rPr lang="en" sz="2400" dirty="0"/>
              <a:t>Streaming large files</a:t>
            </a:r>
          </a:p>
        </p:txBody>
      </p:sp>
    </p:spTree>
    <p:extLst>
      <p:ext uri="{BB962C8B-B14F-4D97-AF65-F5344CB8AC3E}">
        <p14:creationId xmlns:p14="http://schemas.microsoft.com/office/powerpoint/2010/main" val="15709257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Task Scheduler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6DA59D9-44D2-B8AE-C66B-F166CE0F1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107" y="1371616"/>
            <a:ext cx="3402520" cy="52754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04BDEB5-77C5-C1EA-DFCE-A1A6EE38D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975" y="1324212"/>
            <a:ext cx="3402520" cy="249002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2445212-869E-AC0A-C2CD-4121B5768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016" y="4114800"/>
            <a:ext cx="3141479" cy="266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073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Memory management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4C2AE3-AF9F-D39F-9C27-8090E9D545A4}"/>
              </a:ext>
            </a:extLst>
          </p:cNvPr>
          <p:cNvSpPr txBox="1"/>
          <p:nvPr/>
        </p:nvSpPr>
        <p:spPr>
          <a:xfrm>
            <a:off x="571301" y="1884705"/>
            <a:ext cx="101296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400" dirty="0"/>
              <a:t>Resource Manager allocates memory: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/>
              <a:t>Minimum: </a:t>
            </a:r>
            <a:r>
              <a:rPr lang="en" sz="2400" dirty="0" err="1"/>
              <a:t>yarn.scheduler.minimum</a:t>
            </a:r>
            <a:r>
              <a:rPr lang="en" sz="2400" dirty="0"/>
              <a:t>-allocation-mb (1024 MB)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/>
              <a:t>Maximum: </a:t>
            </a:r>
            <a:r>
              <a:rPr lang="en" sz="2400" dirty="0" err="1"/>
              <a:t>yarn.scheduler.maximum</a:t>
            </a:r>
            <a:r>
              <a:rPr lang="en" sz="2400" dirty="0"/>
              <a:t>-allocation-mb (8192 MB)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b="1" dirty="0"/>
              <a:t>The allocated amount has to be a multiple of the minimum amount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400" dirty="0"/>
          </a:p>
          <a:p>
            <a:r>
              <a:rPr lang="en" sz="2400" dirty="0"/>
              <a:t>Each Node Manager has a memory limit: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 err="1"/>
              <a:t>yarn.nodemanager.resource.memory</a:t>
            </a:r>
            <a:r>
              <a:rPr lang="en" sz="2400" dirty="0"/>
              <a:t>-mb (8192 MB)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/>
              <a:t>The sum of all containers cannot exceed this limit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 err="1"/>
              <a:t>NodeManager</a:t>
            </a:r>
            <a:r>
              <a:rPr lang="en" sz="2400" dirty="0"/>
              <a:t> does not create a container if there is insufficient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400" dirty="0"/>
          </a:p>
        </p:txBody>
      </p:sp>
    </p:spTree>
    <p:extLst>
      <p:ext uri="{BB962C8B-B14F-4D97-AF65-F5344CB8AC3E}">
        <p14:creationId xmlns:p14="http://schemas.microsoft.com/office/powerpoint/2010/main" val="38060507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Memory management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4C2AE3-AF9F-D39F-9C27-8090E9D545A4}"/>
              </a:ext>
            </a:extLst>
          </p:cNvPr>
          <p:cNvSpPr txBox="1"/>
          <p:nvPr/>
        </p:nvSpPr>
        <p:spPr>
          <a:xfrm>
            <a:off x="583660" y="1476932"/>
            <a:ext cx="73617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000" dirty="0"/>
              <a:t>Container sizes for Map and Reduce tasks: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 err="1"/>
              <a:t>mapreduce.map.memory.mb</a:t>
            </a:r>
            <a:r>
              <a:rPr lang="en" sz="2000" dirty="0"/>
              <a:t> = 1536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 err="1"/>
              <a:t>mapreduce.reduce.memory.mb</a:t>
            </a:r>
            <a:r>
              <a:rPr lang="en" sz="2000" dirty="0"/>
              <a:t> = 3072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sz="2000" dirty="0"/>
          </a:p>
          <a:p>
            <a:r>
              <a:rPr lang="en" sz="2000" dirty="0"/>
              <a:t>JVM Heap sizes: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 err="1"/>
              <a:t>mapreduce.map.java.opts</a:t>
            </a:r>
            <a:r>
              <a:rPr lang="en" sz="2000" dirty="0"/>
              <a:t> = -Xmx1024m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 err="1"/>
              <a:t>mapreduce.reduce.java.opts</a:t>
            </a:r>
            <a:r>
              <a:rPr lang="en" sz="2000" dirty="0"/>
              <a:t> = -Xmx2560m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sz="2000" dirty="0"/>
          </a:p>
          <a:p>
            <a:r>
              <a:rPr lang="en" sz="2000" dirty="0"/>
              <a:t>Virtual memory size is set as a ratio of physical memory: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 err="1"/>
              <a:t>yarn.nodemanager.vmem</a:t>
            </a:r>
            <a:r>
              <a:rPr lang="en" sz="2000" dirty="0"/>
              <a:t>-</a:t>
            </a:r>
            <a:r>
              <a:rPr lang="en" sz="2000" dirty="0" err="1"/>
              <a:t>pmem</a:t>
            </a:r>
            <a:r>
              <a:rPr lang="en" sz="2000" dirty="0"/>
              <a:t>-ratio = 2.1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sz="2000" dirty="0"/>
          </a:p>
          <a:p>
            <a:r>
              <a:rPr lang="en" sz="2000" dirty="0"/>
              <a:t>If a Map or Reduce task exceeds the virtual or physical memory limit, the Node Manager kills the corresponding container:</a:t>
            </a:r>
          </a:p>
          <a:p>
            <a:pPr lvl="1"/>
            <a:endParaRPr lang="en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D58A0E-838D-B9ED-CC6C-E8325CD7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51" y="5634033"/>
            <a:ext cx="7524235" cy="91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753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Memory management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CCBA99-FC18-98DA-034D-562FCFAAB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184" y="1500826"/>
            <a:ext cx="9171631" cy="491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645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Fault tolerance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C2799-26F7-F4AE-2835-5128020D394E}"/>
              </a:ext>
            </a:extLst>
          </p:cNvPr>
          <p:cNvSpPr txBox="1"/>
          <p:nvPr/>
        </p:nvSpPr>
        <p:spPr>
          <a:xfrm>
            <a:off x="902044" y="1865870"/>
            <a:ext cx="610987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800" dirty="0"/>
              <a:t>Failures can occur at: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Container (Task)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Application Manager (</a:t>
            </a:r>
            <a:r>
              <a:rPr lang="en" sz="2800" dirty="0" err="1"/>
              <a:t>MRAppMaster</a:t>
            </a:r>
            <a:r>
              <a:rPr lang="en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Node Manager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Resource Manager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97094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Container failure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C2799-26F7-F4AE-2835-5128020D394E}"/>
              </a:ext>
            </a:extLst>
          </p:cNvPr>
          <p:cNvSpPr txBox="1"/>
          <p:nvPr/>
        </p:nvSpPr>
        <p:spPr>
          <a:xfrm>
            <a:off x="902044" y="1643448"/>
            <a:ext cx="652436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800" dirty="0"/>
              <a:t>Possible events: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800" dirty="0"/>
              <a:t>Exception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800" dirty="0"/>
              <a:t>JVM crash / server shutdown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800" dirty="0"/>
              <a:t>Process hang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r>
              <a:rPr lang="en" sz="2800" dirty="0"/>
              <a:t>Handling: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 err="1"/>
              <a:t>MRAppMaster</a:t>
            </a:r>
            <a:r>
              <a:rPr lang="en" sz="2800" dirty="0"/>
              <a:t> restarts the task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Number of retries is controlled by:</a:t>
            </a:r>
          </a:p>
          <a:p>
            <a:pPr marL="914400" lvl="1" indent="-457200">
              <a:buFontTx/>
              <a:buChar char="-"/>
            </a:pPr>
            <a:r>
              <a:rPr lang="en" sz="2800" dirty="0" err="1"/>
              <a:t>mapreduce.map.maxattempts</a:t>
            </a:r>
            <a:r>
              <a:rPr lang="en" sz="2800" dirty="0"/>
              <a:t> = 4</a:t>
            </a:r>
          </a:p>
          <a:p>
            <a:pPr marL="914400" lvl="1" indent="-457200">
              <a:buFontTx/>
              <a:buChar char="-"/>
            </a:pPr>
            <a:r>
              <a:rPr lang="en" sz="2800" dirty="0" err="1"/>
              <a:t>mapreduce.reduce.maxattempts</a:t>
            </a:r>
            <a:r>
              <a:rPr lang="en" sz="2800" dirty="0"/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24384442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Application Manager failure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C2799-26F7-F4AE-2835-5128020D394E}"/>
              </a:ext>
            </a:extLst>
          </p:cNvPr>
          <p:cNvSpPr txBox="1"/>
          <p:nvPr/>
        </p:nvSpPr>
        <p:spPr>
          <a:xfrm>
            <a:off x="902044" y="1643448"/>
            <a:ext cx="88227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AM finishes with an error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Signals from AM may not reach 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Resource Manager restarts the AM</a:t>
            </a:r>
          </a:p>
          <a:p>
            <a:pPr marL="914400" lvl="1" indent="-457200">
              <a:buFontTx/>
              <a:buChar char="-"/>
            </a:pPr>
            <a:r>
              <a:rPr lang="en" sz="2800" dirty="0" err="1"/>
              <a:t>yarn.resourcemanager.am.max</a:t>
            </a:r>
            <a:r>
              <a:rPr lang="en" sz="2800" dirty="0"/>
              <a:t>-retries = 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 err="1"/>
              <a:t>MRAppMaster</a:t>
            </a:r>
            <a:r>
              <a:rPr lang="en" sz="2800" dirty="0"/>
              <a:t> can recover task state before restart:</a:t>
            </a:r>
          </a:p>
          <a:p>
            <a:pPr marL="914400" lvl="1" indent="-457200">
              <a:buFontTx/>
              <a:buChar char="-"/>
            </a:pPr>
            <a:r>
              <a:rPr lang="en" sz="2800" dirty="0" err="1"/>
              <a:t>yarn.app.mapreduce.am.job.recovery.enable</a:t>
            </a:r>
            <a:r>
              <a:rPr lang="en" sz="2800" dirty="0"/>
              <a:t> = true</a:t>
            </a:r>
          </a:p>
        </p:txBody>
      </p:sp>
    </p:spTree>
    <p:extLst>
      <p:ext uri="{BB962C8B-B14F-4D97-AF65-F5344CB8AC3E}">
        <p14:creationId xmlns:p14="http://schemas.microsoft.com/office/powerpoint/2010/main" val="1837261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Node Manager failure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C2799-26F7-F4AE-2835-5128020D394E}"/>
              </a:ext>
            </a:extLst>
          </p:cNvPr>
          <p:cNvSpPr txBox="1"/>
          <p:nvPr/>
        </p:nvSpPr>
        <p:spPr>
          <a:xfrm>
            <a:off x="902044" y="1643448"/>
            <a:ext cx="102931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If Node Manager (NM) fails:</a:t>
            </a:r>
          </a:p>
          <a:p>
            <a:pPr marL="914400" lvl="1" indent="-457200">
              <a:buFontTx/>
              <a:buChar char="-"/>
            </a:pPr>
            <a:r>
              <a:rPr lang="en" sz="2800" dirty="0"/>
              <a:t>NM stops sending signals to RM</a:t>
            </a:r>
          </a:p>
          <a:p>
            <a:pPr marL="914400" lvl="1" indent="-457200">
              <a:buFontTx/>
              <a:buChar char="-"/>
            </a:pPr>
            <a:r>
              <a:rPr lang="en" sz="2800" dirty="0"/>
              <a:t>Containers on NM stop sending signals to AM</a:t>
            </a:r>
          </a:p>
          <a:p>
            <a:pPr marL="914400" lvl="1" indent="-457200">
              <a:buFontTx/>
              <a:buChar char="-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RM removes NM from active nodes if no heartbeat for 10 minutes:</a:t>
            </a:r>
          </a:p>
          <a:p>
            <a:pPr marL="914400" lvl="1" indent="-457200">
              <a:buFontTx/>
              <a:buChar char="-"/>
            </a:pPr>
            <a:r>
              <a:rPr lang="en" sz="2800" dirty="0" err="1"/>
              <a:t>yarn.resourcemanager.nm.liveness</a:t>
            </a:r>
            <a:r>
              <a:rPr lang="en" sz="2800" dirty="0"/>
              <a:t>-</a:t>
            </a:r>
            <a:r>
              <a:rPr lang="en" sz="2800" dirty="0" err="1"/>
              <a:t>monitor.expiry</a:t>
            </a:r>
            <a:r>
              <a:rPr lang="en" sz="2800" dirty="0"/>
              <a:t>-interval-</a:t>
            </a:r>
            <a:r>
              <a:rPr lang="en" sz="2800" dirty="0" err="1"/>
              <a:t>ms</a:t>
            </a:r>
            <a:endParaRPr lang="en" sz="2800" dirty="0"/>
          </a:p>
          <a:p>
            <a:pPr marL="914400" lvl="1" indent="-457200">
              <a:buFontTx/>
              <a:buChar char="-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 err="1"/>
              <a:t>MRAppMaster</a:t>
            </a:r>
            <a:r>
              <a:rPr lang="en" sz="2800" dirty="0"/>
              <a:t> blacklists NM if 3 container failures occur:</a:t>
            </a:r>
          </a:p>
          <a:p>
            <a:pPr marL="914400" lvl="1" indent="-457200">
              <a:buFontTx/>
              <a:buChar char="-"/>
            </a:pPr>
            <a:r>
              <a:rPr lang="en" sz="2800" dirty="0" err="1"/>
              <a:t>mapreduce.job.maxtaskfailures.per.tracker</a:t>
            </a:r>
            <a:endParaRPr lang="en" sz="2800" dirty="0"/>
          </a:p>
        </p:txBody>
      </p:sp>
    </p:spTree>
    <p:extLst>
      <p:ext uri="{BB962C8B-B14F-4D97-AF65-F5344CB8AC3E}">
        <p14:creationId xmlns:p14="http://schemas.microsoft.com/office/powerpoint/2010/main" val="31170894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83" y="593367"/>
            <a:ext cx="11960115" cy="763600"/>
          </a:xfrm>
        </p:spPr>
        <p:txBody>
          <a:bodyPr/>
          <a:lstStyle/>
          <a:p>
            <a:r>
              <a:rPr lang="en" dirty="0"/>
              <a:t>Hadoop</a:t>
            </a:r>
            <a:r>
              <a:rPr lang="en-US" dirty="0"/>
              <a:t>. YARN. </a:t>
            </a:r>
            <a:r>
              <a:rPr lang="en" dirty="0"/>
              <a:t>Resource Manager failure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C2799-26F7-F4AE-2835-5128020D394E}"/>
              </a:ext>
            </a:extLst>
          </p:cNvPr>
          <p:cNvSpPr txBox="1"/>
          <p:nvPr/>
        </p:nvSpPr>
        <p:spPr>
          <a:xfrm>
            <a:off x="902044" y="2126685"/>
            <a:ext cx="71051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No tasks or applications can run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Leads to cluster downtime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/>
              <a:t>RM High Availability</a:t>
            </a:r>
            <a:r>
              <a:rPr lang="ru-RU" sz="2800" dirty="0"/>
              <a:t> </a:t>
            </a:r>
            <a:r>
              <a:rPr lang="en-US" sz="2800" dirty="0"/>
              <a:t>through </a:t>
            </a:r>
            <a:r>
              <a:rPr lang="en-US" sz="2800" dirty="0" err="1"/>
              <a:t>ZooKeeper</a:t>
            </a:r>
            <a:r>
              <a:rPr lang="en-US" sz="2800" dirty="0"/>
              <a:t> (</a:t>
            </a:r>
            <a:r>
              <a:rPr lang="en" sz="2800" dirty="0" err="1"/>
              <a:t>ZooKeeper</a:t>
            </a:r>
            <a:r>
              <a:rPr lang="en" sz="2800" dirty="0"/>
              <a:t> Failover Controller</a:t>
            </a:r>
            <a:r>
              <a:rPr lang="en-US" sz="2800" dirty="0"/>
              <a:t>)</a:t>
            </a:r>
            <a:endParaRPr lang="en" sz="2800" dirty="0"/>
          </a:p>
        </p:txBody>
      </p:sp>
    </p:spTree>
    <p:extLst>
      <p:ext uri="{BB962C8B-B14F-4D97-AF65-F5344CB8AC3E}">
        <p14:creationId xmlns:p14="http://schemas.microsoft.com/office/powerpoint/2010/main" val="5867592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1547</Words>
  <Application>Microsoft Macintosh PowerPoint</Application>
  <PresentationFormat>Широкоэкранный</PresentationFormat>
  <Paragraphs>243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Helvetica Neue</vt:lpstr>
      <vt:lpstr>Тема Office</vt:lpstr>
      <vt:lpstr>Industrial Machine Learning on Hadoop and Spark </vt:lpstr>
      <vt:lpstr>Distributed computing. MapReduce. YARN</vt:lpstr>
      <vt:lpstr>MapReduce. Hadoop Streaming</vt:lpstr>
      <vt:lpstr>MapReduce. Hadoop Streaming</vt:lpstr>
      <vt:lpstr>MapReduce. Word Count I</vt:lpstr>
      <vt:lpstr>MapReduce. Word Count II. Combiner</vt:lpstr>
      <vt:lpstr>MapReduce. Word Count III. In-mapper combiner</vt:lpstr>
      <vt:lpstr>MapReduce. Word Count III. In-mapper combiner</vt:lpstr>
      <vt:lpstr>MapReduce. Word Count IV. In-mapper combiner V2</vt:lpstr>
      <vt:lpstr>Hadoop. Resource Management</vt:lpstr>
      <vt:lpstr>Hadoop. MapReduce V1</vt:lpstr>
      <vt:lpstr>Hadoop. MapReduce V1. JobTracker</vt:lpstr>
      <vt:lpstr>Hadoop. MapReduce V1. TaskTracker</vt:lpstr>
      <vt:lpstr>Hadoop. MapReduce V1. Resource distribution</vt:lpstr>
      <vt:lpstr>Hadoop. MapReduce V1. Resource distribution</vt:lpstr>
      <vt:lpstr>Hadoop. MapReduce V1. Rigid distribution</vt:lpstr>
      <vt:lpstr>Hadoop. MapReduce V1. Per task distribution</vt:lpstr>
      <vt:lpstr>Hadoop. MapReduce V1. No distribution</vt:lpstr>
      <vt:lpstr>Hadoop. YARN</vt:lpstr>
      <vt:lpstr>Hadoop. YARN. Resource Manager</vt:lpstr>
      <vt:lpstr>Hadoop. YARN. Node Manager</vt:lpstr>
      <vt:lpstr>Hadoop. YARN. Containers</vt:lpstr>
      <vt:lpstr>Hadoop. YARN. Application Master</vt:lpstr>
      <vt:lpstr>Hadoop. YARN. Workflow</vt:lpstr>
      <vt:lpstr>Hadoop. YARN. Workflow</vt:lpstr>
      <vt:lpstr>Hadoop. YARN. Workflow</vt:lpstr>
      <vt:lpstr>Hadoop. YARN. Workflow</vt:lpstr>
      <vt:lpstr>Hadoop. YARN. Workflow</vt:lpstr>
      <vt:lpstr>Hadoop. YARN. Resource allocation</vt:lpstr>
      <vt:lpstr>Hadoop. YARN. Container allocation</vt:lpstr>
      <vt:lpstr>Hadoop. YARN. MapReduce</vt:lpstr>
      <vt:lpstr>Hadoop. YARN. MapReduce</vt:lpstr>
      <vt:lpstr>Hadoop. YARN. MapReduce</vt:lpstr>
      <vt:lpstr>Hadoop. YARN. MapReduce</vt:lpstr>
      <vt:lpstr>Hadoop. YARN. MapReduce</vt:lpstr>
      <vt:lpstr>Hadoop. YARN. MapReduce</vt:lpstr>
      <vt:lpstr>Hadoop. YARN. MapReduce</vt:lpstr>
      <vt:lpstr>Hadoop. YARN. MapReduce. Shuffle Service</vt:lpstr>
      <vt:lpstr>Hadoop. YARN. Task Scheduler</vt:lpstr>
      <vt:lpstr>Hadoop. YARN. Memory management</vt:lpstr>
      <vt:lpstr>Hadoop. YARN. Memory management</vt:lpstr>
      <vt:lpstr>Hadoop. YARN. Memory management</vt:lpstr>
      <vt:lpstr>Hadoop. YARN. Fault tolerance</vt:lpstr>
      <vt:lpstr>Hadoop. YARN. Container failure</vt:lpstr>
      <vt:lpstr>Hadoop. YARN. Application Manager failure</vt:lpstr>
      <vt:lpstr>Hadoop. YARN. Node Manager failure</vt:lpstr>
      <vt:lpstr>Hadoop. YARN. Resource Manager failure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Machine Learning on Hadoop and Spark </dc:title>
  <dc:creator>Maksim Nakhodnov</dc:creator>
  <cp:lastModifiedBy>Maksim Nakhodnov</cp:lastModifiedBy>
  <cp:revision>232</cp:revision>
  <dcterms:created xsi:type="dcterms:W3CDTF">2025-09-08T14:49:50Z</dcterms:created>
  <dcterms:modified xsi:type="dcterms:W3CDTF">2025-09-29T19:43:43Z</dcterms:modified>
</cp:coreProperties>
</file>