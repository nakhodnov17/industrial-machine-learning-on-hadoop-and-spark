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385" r:id="rId4"/>
    <p:sldId id="379" r:id="rId5"/>
    <p:sldId id="380" r:id="rId6"/>
    <p:sldId id="378" r:id="rId7"/>
    <p:sldId id="381" r:id="rId8"/>
    <p:sldId id="382" r:id="rId9"/>
    <p:sldId id="383" r:id="rId10"/>
    <p:sldId id="384" r:id="rId11"/>
    <p:sldId id="386" r:id="rId12"/>
    <p:sldId id="387" r:id="rId13"/>
    <p:sldId id="388" r:id="rId14"/>
    <p:sldId id="389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1" r:id="rId27"/>
    <p:sldId id="402" r:id="rId28"/>
    <p:sldId id="403" r:id="rId29"/>
    <p:sldId id="404" r:id="rId30"/>
    <p:sldId id="405" r:id="rId31"/>
    <p:sldId id="406" r:id="rId32"/>
    <p:sldId id="407" r:id="rId33"/>
    <p:sldId id="408" r:id="rId34"/>
    <p:sldId id="409" r:id="rId35"/>
    <p:sldId id="410" r:id="rId36"/>
    <p:sldId id="411" r:id="rId37"/>
    <p:sldId id="412" r:id="rId38"/>
    <p:sldId id="414" r:id="rId39"/>
    <p:sldId id="415" r:id="rId40"/>
    <p:sldId id="416" r:id="rId4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/>
    <p:restoredTop sz="96405"/>
  </p:normalViewPr>
  <p:slideViewPr>
    <p:cSldViewPr snapToGrid="0" snapToObjects="1" showGuides="1">
      <p:cViewPr varScale="1">
        <p:scale>
          <a:sx n="131" d="100"/>
          <a:sy n="131" d="100"/>
        </p:scale>
        <p:origin x="480" y="184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F6EAE-B82E-BC4A-BDEE-36473373A37A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70A5C-8A04-3A47-923A-D08A7CEEFD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451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31D5A-E201-7474-4B1A-5BD19B589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ACECF7-4DA8-CE55-6485-5F1F77C5D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284EDE-F261-5961-8FD2-B845DB46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1ADCB9-5366-F668-C6B4-917C6A2B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C08356-EC1C-C0AF-3442-4A2E7DFC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964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BE389-735E-A11E-F79E-7640FFA6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FDBF44-CAD3-B74E-10E4-A9BF562D4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DA6533-7671-1C9B-BA84-E5150465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52B4D0-3325-69B2-3960-6E71E567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A6CF87-AB08-426F-0D53-3DBBE062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14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4122F-92D0-FC73-D26B-A821BF52B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7618E2-109C-7CC6-8155-A55233859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23CCF2-8484-59BE-E69A-89874BCA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C9B669-7276-5091-A52D-22F85797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5CA5AD-BF3F-27BF-55E4-649A0CC0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82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9B833-9DC9-0B81-C4D9-6B42F2DD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877BDE-B32D-8958-29C3-D2A9F9AAA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119958-D063-99B2-E2FB-30A66DD96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470D1E-2CCE-EEAF-B672-3A9E9D40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86A597-B7D1-ED62-3285-D364F0AF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470D36-BCC0-3261-B1F0-7D6B5A81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65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B1CC6-C706-B6C0-FDCB-FA94B910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3CBE6A-5B25-27D0-C684-29DB79D2A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DF7E6A-40E3-46D1-9B43-524503710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135165E-9BAF-31E2-E4E8-01CCA24D0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CB16CD3-56D3-A37F-56FB-CE97EA8B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7ED33E-EA87-D8F4-8992-401D344D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1F2D7E0-2878-41A1-0EC2-2B9014873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9222BA-7D9B-88A0-B7E5-3BBA14C9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540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90632-6D57-82C4-2334-6DFDE27C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CD5B416-D99B-CA60-B9BA-29273A2A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8C257F-7982-2BE5-A531-70E7DF01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063ED8-ADAF-F272-99DD-66C03E21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43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43745E-ABFC-44E7-14B0-CB7766BE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255CDFB-3A4E-79BA-93DA-AFA0361A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D84A93-B78B-7BF0-7AA4-7F685BD1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755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B65BCE-05D7-FEFD-3533-C07B8BD8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111FC4-2EA3-6308-8156-C72F88ACF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113F83-276C-691B-A16E-5E74F3316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739AA7-5F87-7737-D618-DE755B10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2F201D-5D8D-F270-7379-B9C69703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FBCD0D-823D-8001-7BDA-17B72BE3A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512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CC6E7-F034-BA12-B3FB-BED1D63B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C78D401-37AC-6344-4558-04D562F93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357C2E-F25D-F67E-7554-5F7589753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24F36D-DEC8-00E6-0287-01C503A3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6FBDD6-3BCC-9FE1-DC82-EA39E795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677A20-1D78-B2AE-AD62-ABBFEDE1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140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D4461-D3CB-615C-7987-4673B4D0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6CF3012-741E-4439-39E5-C94A53DAA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3AED54-2280-AEF4-1870-59EA9000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083FE9-8983-5897-BB3B-E39F9FFE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79589F-B354-4ED6-6AAA-B1D90D37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67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FD55CA7-3716-60C4-6659-BAA53780D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273567-58FC-40D3-90BB-9E2609103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B68AFA-4476-9BBD-3200-AEF1074E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E15B1D-1856-7580-F921-A5F9EA96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5C6A57-CD75-9D77-B2B2-E346F9CD6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998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40508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97047-18CC-B795-F77F-282CCFD8D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4874D3-7A2D-F771-C8DF-F7BAF0335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0163B5-2B4B-30D5-90A2-68163F2681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58E46-324A-0F41-A8E0-24AAA974ABFE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63CEBD-2B04-9620-F1D7-51A9CE25B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199310-CB4C-7A92-B236-7EBB29C82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45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D94878-F624-767A-70EF-8946148807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229" b="-6088"/>
          <a:stretch/>
        </p:blipFill>
        <p:spPr>
          <a:xfrm>
            <a:off x="0" y="0"/>
            <a:ext cx="12192000" cy="734479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F8BB4-F5CF-1511-E969-809676AC8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179" y="3641967"/>
            <a:ext cx="10515600" cy="2189797"/>
          </a:xfrm>
        </p:spPr>
        <p:txBody>
          <a:bodyPr>
            <a:normAutofit fontScale="90000"/>
          </a:bodyPr>
          <a:lstStyle/>
          <a:p>
            <a:pPr algn="l"/>
            <a:r>
              <a:rPr lang="en" b="1" dirty="0">
                <a:ln w="22225">
                  <a:solidFill>
                    <a:schemeClr val="bg1"/>
                  </a:solidFill>
                  <a:prstDash val="solid"/>
                </a:ln>
                <a:latin typeface="Helvetica Neue" panose="02000503000000020004" pitchFamily="2" charset="0"/>
              </a:rPr>
              <a:t>Industrial Machine Learning on Hadoop and Spark</a:t>
            </a:r>
            <a:br>
              <a:rPr lang="en" b="1" dirty="0">
                <a:ln w="22225">
                  <a:solidFill>
                    <a:schemeClr val="bg1"/>
                  </a:solidFill>
                  <a:prstDash val="solid"/>
                </a:ln>
                <a:latin typeface="Helvetica Neue" panose="02000503000000020004" pitchFamily="2" charset="0"/>
              </a:rPr>
            </a:br>
            <a:endParaRPr lang="ru-RU" b="1" dirty="0">
              <a:ln w="22225">
                <a:solidFill>
                  <a:schemeClr val="bg1"/>
                </a:solidFill>
                <a:prstDash val="solid"/>
              </a:ln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E0D339-4BFD-3D45-CBF6-BC3154748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21672" y="6129627"/>
            <a:ext cx="5648960" cy="378902"/>
          </a:xfrm>
        </p:spPr>
        <p:txBody>
          <a:bodyPr>
            <a:normAutofit/>
          </a:bodyPr>
          <a:lstStyle/>
          <a:p>
            <a:r>
              <a:rPr lang="en" sz="2000" b="1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Maks</a:t>
            </a:r>
            <a:r>
              <a:rPr lang="en" sz="2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" sz="2000" b="1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Nakhodnov</a:t>
            </a:r>
            <a:r>
              <a:rPr lang="en" sz="2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, Bremen 2025</a:t>
            </a:r>
            <a:endParaRPr lang="en" sz="20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890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92E03-FC92-52CB-17FF-7BE9F450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sz="4400" dirty="0">
                <a:ea typeface="Times New Roman"/>
                <a:cs typeface="Times New Roman" panose="02020603050405020304" pitchFamily="18" charset="0"/>
                <a:sym typeface="Times New Roman"/>
              </a:rPr>
              <a:t>Distributed computing</a:t>
            </a:r>
            <a:r>
              <a:rPr lang="ru-RU" sz="4400" dirty="0">
                <a:ea typeface="Times New Roman"/>
                <a:cs typeface="Times New Roman" panose="02020603050405020304" pitchFamily="18" charset="0"/>
                <a:sym typeface="Times New Roman"/>
              </a:rPr>
              <a:t>. </a:t>
            </a:r>
            <a:r>
              <a:rPr lang="en-US" dirty="0"/>
              <a:t>Algorithms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3A7CED-94F3-7500-3D48-5CF5EB0D1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" dirty="0"/>
              <a:t> Plan:</a:t>
            </a:r>
          </a:p>
          <a:p>
            <a:pPr marL="0" indent="0">
              <a:buNone/>
            </a:pPr>
            <a:r>
              <a:rPr lang="en" dirty="0"/>
              <a:t>How to process big data? </a:t>
            </a:r>
            <a:r>
              <a:rPr lang="en-US" dirty="0"/>
              <a:t>MR Algorithms</a:t>
            </a:r>
            <a:r>
              <a:rPr lang="en" dirty="0"/>
              <a:t>:</a:t>
            </a:r>
          </a:p>
          <a:p>
            <a:pPr lvl="1"/>
            <a:r>
              <a:rPr lang="en" dirty="0"/>
              <a:t>Distinct values, Cross-Correlation</a:t>
            </a:r>
          </a:p>
          <a:p>
            <a:pPr lvl="1"/>
            <a:r>
              <a:rPr lang="en" dirty="0"/>
              <a:t>Relational functions</a:t>
            </a:r>
          </a:p>
          <a:p>
            <a:pPr lvl="1"/>
            <a:r>
              <a:rPr lang="en" dirty="0"/>
              <a:t>TF-IDF</a:t>
            </a:r>
          </a:p>
          <a:p>
            <a:pPr lvl="1"/>
            <a:r>
              <a:rPr lang="en" dirty="0"/>
              <a:t>Graph Processing</a:t>
            </a:r>
          </a:p>
        </p:txBody>
      </p:sp>
    </p:spTree>
    <p:extLst>
      <p:ext uri="{BB962C8B-B14F-4D97-AF65-F5344CB8AC3E}">
        <p14:creationId xmlns:p14="http://schemas.microsoft.com/office/powerpoint/2010/main" val="1619353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Distinct Values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4155758-350C-D5A9-0171-679FF8503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938" y="1682634"/>
            <a:ext cx="4345820" cy="49035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4FDED2-D407-8E1F-96CA-52B6ECA58CE2}"/>
              </a:ext>
            </a:extLst>
          </p:cNvPr>
          <p:cNvSpPr txBox="1"/>
          <p:nvPr/>
        </p:nvSpPr>
        <p:spPr>
          <a:xfrm>
            <a:off x="571242" y="1930778"/>
            <a:ext cx="55247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Count the number of unique values for each group.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i="1" dirty="0"/>
              <a:t>Note: #values &gt;&gt; #groups</a:t>
            </a:r>
          </a:p>
          <a:p>
            <a:pPr algn="just"/>
            <a:r>
              <a:rPr lang="en-US" sz="2400" i="1" dirty="0"/>
              <a:t>i.e., user-site interaction —&gt; </a:t>
            </a:r>
          </a:p>
          <a:p>
            <a:pPr algn="just"/>
            <a:r>
              <a:rPr lang="en-US" sz="2400" i="1" dirty="0"/>
              <a:t>	values == users, groups == pages </a:t>
            </a:r>
          </a:p>
        </p:txBody>
      </p:sp>
    </p:spTree>
    <p:extLst>
      <p:ext uri="{BB962C8B-B14F-4D97-AF65-F5344CB8AC3E}">
        <p14:creationId xmlns:p14="http://schemas.microsoft.com/office/powerpoint/2010/main" val="186972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Distinct Values I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4155758-350C-D5A9-0171-679FF8503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938" y="1682634"/>
            <a:ext cx="4345820" cy="49035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4FDED2-D407-8E1F-96CA-52B6ECA58CE2}"/>
              </a:ext>
            </a:extLst>
          </p:cNvPr>
          <p:cNvSpPr txBox="1"/>
          <p:nvPr/>
        </p:nvSpPr>
        <p:spPr>
          <a:xfrm>
            <a:off x="674336" y="1429929"/>
            <a:ext cx="57019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single-phase solution:</a:t>
            </a:r>
          </a:p>
          <a:p>
            <a:pPr marL="457200" indent="-457200">
              <a:buAutoNum type="arabicPeriod"/>
            </a:pPr>
            <a:r>
              <a:rPr lang="en-US" sz="2000" dirty="0"/>
              <a:t>Use an associative array to store unique values</a:t>
            </a:r>
          </a:p>
          <a:p>
            <a:pPr marL="457200" indent="-457200">
              <a:buAutoNum type="arabicPeriod"/>
            </a:pPr>
            <a:r>
              <a:rPr lang="en-US" sz="2000" dirty="0"/>
              <a:t>Need to use a single reducer or perform post-aggregation (feasible as the number of categories is small)</a:t>
            </a:r>
          </a:p>
          <a:p>
            <a:pPr marL="457200" indent="-457200">
              <a:buAutoNum type="arabicPeriod"/>
            </a:pPr>
            <a:r>
              <a:rPr lang="en-US" sz="2000" dirty="0"/>
              <a:t>Requires storing and sorting all groups in memory — may be infeasible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8449F0-3C59-6792-A8D9-7D09D4A6DF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3" t="4816" b="2831"/>
          <a:stretch/>
        </p:blipFill>
        <p:spPr>
          <a:xfrm>
            <a:off x="1132416" y="3644253"/>
            <a:ext cx="4623406" cy="294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30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Distinct Values II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4155758-350C-D5A9-0171-679FF8503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938" y="1682634"/>
            <a:ext cx="4345820" cy="49035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4FDED2-D407-8E1F-96CA-52B6ECA58CE2}"/>
              </a:ext>
            </a:extLst>
          </p:cNvPr>
          <p:cNvSpPr txBox="1"/>
          <p:nvPr/>
        </p:nvSpPr>
        <p:spPr>
          <a:xfrm>
            <a:off x="415600" y="1401921"/>
            <a:ext cx="65362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two-phase solution:</a:t>
            </a:r>
          </a:p>
          <a:p>
            <a:pPr marL="342900" indent="-342900">
              <a:buAutoNum type="arabicPeriod"/>
            </a:pPr>
            <a:r>
              <a:rPr lang="en-US" sz="2000" dirty="0"/>
              <a:t>Get unique (G, F) pairs</a:t>
            </a:r>
          </a:p>
          <a:p>
            <a:pPr marL="342900" indent="-342900">
              <a:buAutoNum type="arabicPeriod"/>
            </a:pPr>
            <a:r>
              <a:rPr lang="en-US" sz="2000" dirty="0"/>
              <a:t>Count the number of F for each G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r>
              <a:rPr lang="en-US" sz="2000" dirty="0"/>
              <a:t>More complex to implement but more effective</a:t>
            </a:r>
            <a:endParaRPr lang="ru-RU" sz="2000" dirty="0"/>
          </a:p>
          <a:p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51DD64-75C6-F5DF-BFE0-09E9B6902C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788" b="9617"/>
          <a:stretch/>
        </p:blipFill>
        <p:spPr>
          <a:xfrm>
            <a:off x="783514" y="3181208"/>
            <a:ext cx="3869349" cy="175525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97F8E17-166A-5694-83C7-276B82C0D9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582" b="11046"/>
          <a:stretch/>
        </p:blipFill>
        <p:spPr>
          <a:xfrm>
            <a:off x="783513" y="4936467"/>
            <a:ext cx="3869350" cy="164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27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Cross-Correlation I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222E52-89BD-61C1-B894-6891C3828096}"/>
              </a:ext>
            </a:extLst>
          </p:cNvPr>
          <p:cNvSpPr txBox="1"/>
          <p:nvPr/>
        </p:nvSpPr>
        <p:spPr>
          <a:xfrm>
            <a:off x="690664" y="1760707"/>
            <a:ext cx="9552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Count the cooccurrences for every pair in the set of tuples: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3AC8743-8484-2B52-D615-6ADE8ACFF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277" y="2283927"/>
            <a:ext cx="6877455" cy="51984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D1BF31B-E9D5-DEED-1735-C00FC7D42B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62" t="4992" b="10186"/>
          <a:stretch/>
        </p:blipFill>
        <p:spPr>
          <a:xfrm>
            <a:off x="2759528" y="3789446"/>
            <a:ext cx="5653429" cy="2337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6E2E60-9432-BBB1-6F6F-AF10316689CB}"/>
                  </a:ext>
                </a:extLst>
              </p:cNvPr>
              <p:cNvSpPr txBox="1"/>
              <p:nvPr/>
            </p:nvSpPr>
            <p:spPr>
              <a:xfrm>
                <a:off x="799981" y="3065775"/>
                <a:ext cx="73084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Simple, but network-heavy solution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pairs to sort):</a:t>
                </a:r>
                <a:endParaRPr lang="ru-RU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6E2E60-9432-BBB1-6F6F-AF1031668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81" y="3065775"/>
                <a:ext cx="7308411" cy="461665"/>
              </a:xfrm>
              <a:prstGeom prst="rect">
                <a:avLst/>
              </a:prstGeom>
              <a:blipFill>
                <a:blip r:embed="rId4"/>
                <a:stretch>
                  <a:fillRect l="-1213" t="-8108" r="-347" b="-297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433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Cross-Correlation II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222E52-89BD-61C1-B894-6891C3828096}"/>
              </a:ext>
            </a:extLst>
          </p:cNvPr>
          <p:cNvSpPr txBox="1"/>
          <p:nvPr/>
        </p:nvSpPr>
        <p:spPr>
          <a:xfrm>
            <a:off x="690664" y="1369586"/>
            <a:ext cx="9552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Count the cooccurrences for every pair in the set of tuples: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3AC8743-8484-2B52-D615-6ADE8ACFF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277" y="1892806"/>
            <a:ext cx="6877455" cy="51984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90C817-C764-E63A-351F-4D6421B6A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83" y="2412647"/>
            <a:ext cx="5034014" cy="203270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BB240D-97B6-E8FA-DAFF-27C92292D7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26" t="5385" r="20137" b="6883"/>
          <a:stretch/>
        </p:blipFill>
        <p:spPr>
          <a:xfrm>
            <a:off x="6694714" y="2538452"/>
            <a:ext cx="5081686" cy="40582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2C36BA-293A-2E06-F651-A04BB14EE540}"/>
              </a:ext>
            </a:extLst>
          </p:cNvPr>
          <p:cNvSpPr txBox="1"/>
          <p:nvPr/>
        </p:nvSpPr>
        <p:spPr>
          <a:xfrm>
            <a:off x="524483" y="4283428"/>
            <a:ext cx="5716437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Advantages:</a:t>
            </a:r>
          </a:p>
          <a:p>
            <a:pPr marL="742950" lvl="1" indent="-285750">
              <a:buFontTx/>
              <a:buChar char="-"/>
            </a:pPr>
            <a:r>
              <a:rPr lang="en-US" sz="2200" dirty="0"/>
              <a:t>Sort &amp; shuffle performed more effectively</a:t>
            </a:r>
          </a:p>
          <a:p>
            <a:pPr marL="742950" lvl="1" indent="-285750">
              <a:buFontTx/>
              <a:buChar char="-"/>
            </a:pPr>
            <a:r>
              <a:rPr lang="en-US" sz="2200" dirty="0"/>
              <a:t>Can be used with Combiner</a:t>
            </a:r>
          </a:p>
          <a:p>
            <a:r>
              <a:rPr lang="en-US" sz="2200" dirty="0"/>
              <a:t>Disadvantages:</a:t>
            </a:r>
          </a:p>
          <a:p>
            <a:pPr marL="742950" lvl="1" indent="-285750">
              <a:buFontTx/>
              <a:buChar char="-"/>
            </a:pPr>
            <a:r>
              <a:rPr lang="en-US" sz="2200" dirty="0"/>
              <a:t>More complex implementation</a:t>
            </a:r>
          </a:p>
          <a:p>
            <a:pPr marL="742950" lvl="1" indent="-285750">
              <a:buFontTx/>
              <a:buChar char="-"/>
            </a:pPr>
            <a:r>
              <a:rPr lang="en-US" sz="2200" dirty="0"/>
              <a:t>Need to manage Mapper/Reducer RAM</a:t>
            </a:r>
          </a:p>
          <a:p>
            <a:pPr marL="742950" lvl="1" indent="-285750">
              <a:buFontTx/>
              <a:buChar char="-"/>
            </a:pPr>
            <a:r>
              <a:rPr lang="en-US" sz="2200" dirty="0"/>
              <a:t>More complex objects to be sent</a:t>
            </a:r>
          </a:p>
        </p:txBody>
      </p:sp>
    </p:spTree>
    <p:extLst>
      <p:ext uri="{BB962C8B-B14F-4D97-AF65-F5344CB8AC3E}">
        <p14:creationId xmlns:p14="http://schemas.microsoft.com/office/powerpoint/2010/main" val="4245424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Relational Functions. Sets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9A2B1F9-99B5-39F9-5F32-88490FCB1C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29" t="3266" b="3030"/>
          <a:stretch/>
        </p:blipFill>
        <p:spPr>
          <a:xfrm>
            <a:off x="726622" y="1665514"/>
            <a:ext cx="3120428" cy="481692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237882D-3A33-31A1-81F7-CB9B657B9F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68" t="3233" b="3140"/>
          <a:stretch/>
        </p:blipFill>
        <p:spPr>
          <a:xfrm>
            <a:off x="4596492" y="1665514"/>
            <a:ext cx="4375529" cy="481692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802CCE0-22BF-FA92-CAB0-689E151CF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402" y="1515591"/>
            <a:ext cx="2056049" cy="155512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2515705-7C22-198C-D5F0-D21B06A07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401" y="3259273"/>
            <a:ext cx="2056050" cy="153168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3F3AA1E-E407-37F6-9D36-21F5527723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402" y="4979245"/>
            <a:ext cx="2056050" cy="156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97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Repartition Join I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A415ED-4AAA-BD1B-A33E-CF6D69E05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55" y="1858342"/>
            <a:ext cx="4855159" cy="195458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0C6D2D2-FBAF-8E99-6DE9-807CCBB13D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92" t="3966" b="5096"/>
          <a:stretch/>
        </p:blipFill>
        <p:spPr>
          <a:xfrm>
            <a:off x="6090407" y="1858342"/>
            <a:ext cx="5893243" cy="4167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E12FA-EE94-C39F-C587-336086BA234B}"/>
              </a:ext>
            </a:extLst>
          </p:cNvPr>
          <p:cNvSpPr txBox="1"/>
          <p:nvPr/>
        </p:nvSpPr>
        <p:spPr>
          <a:xfrm>
            <a:off x="592177" y="3812926"/>
            <a:ext cx="52083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Need to manage Reducer 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For each key, we have to store all corresponding values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Will fail if one of the sets is large</a:t>
            </a:r>
          </a:p>
        </p:txBody>
      </p:sp>
    </p:spTree>
    <p:extLst>
      <p:ext uri="{BB962C8B-B14F-4D97-AF65-F5344CB8AC3E}">
        <p14:creationId xmlns:p14="http://schemas.microsoft.com/office/powerpoint/2010/main" val="2739059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Repartition Join II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A415ED-4AAA-BD1B-A33E-CF6D69E05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55" y="1858342"/>
            <a:ext cx="4855159" cy="19545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E12FA-EE94-C39F-C587-336086BA234B}"/>
              </a:ext>
            </a:extLst>
          </p:cNvPr>
          <p:cNvSpPr txBox="1"/>
          <p:nvPr/>
        </p:nvSpPr>
        <p:spPr>
          <a:xfrm>
            <a:off x="592177" y="3812926"/>
            <a:ext cx="52083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Load the small set in each mapper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Use in-mapper combiner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If one of the sets is small, we can use a</a:t>
            </a:r>
            <a:r>
              <a:rPr lang="en-US" sz="2400" b="1" dirty="0"/>
              <a:t> broadcast join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D9C0B89-267B-70B5-28A0-4B61EA5B04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11" t="5345" r="11922" b="6699"/>
          <a:stretch/>
        </p:blipFill>
        <p:spPr>
          <a:xfrm>
            <a:off x="6110156" y="2069887"/>
            <a:ext cx="5914752" cy="348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070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TF-IDF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E12FA-EE94-C39F-C587-336086BA234B}"/>
              </a:ext>
            </a:extLst>
          </p:cNvPr>
          <p:cNvSpPr txBox="1"/>
          <p:nvPr/>
        </p:nvSpPr>
        <p:spPr>
          <a:xfrm>
            <a:off x="600884" y="1945164"/>
            <a:ext cx="87956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TF-IDF: Term Frequency — Inverse Document Frequency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Still useful for Information Retrieval tasks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Simplest text vectorization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For each pair (word, document), give its importance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IDF penalizes the frequent words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TF encourages words that appear frequently in the document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A23483-A594-4340-12AB-F67ABBFCBD49}"/>
                  </a:ext>
                </a:extLst>
              </p:cNvPr>
              <p:cNvSpPr txBox="1"/>
              <p:nvPr/>
            </p:nvSpPr>
            <p:spPr>
              <a:xfrm>
                <a:off x="3831771" y="4803864"/>
                <a:ext cx="3161211" cy="679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IDF(w, D)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𝑙𝑜𝑔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∈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A23483-A594-4340-12AB-F67ABBFCB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771" y="4803864"/>
                <a:ext cx="3161211" cy="679610"/>
              </a:xfrm>
              <a:prstGeom prst="rect">
                <a:avLst/>
              </a:prstGeom>
              <a:blipFill>
                <a:blip r:embed="rId2"/>
                <a:stretch>
                  <a:fillRect l="-2800" b="-90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C20195-AB74-71AD-FB18-C0AC303B0A12}"/>
                  </a:ext>
                </a:extLst>
              </p:cNvPr>
              <p:cNvSpPr txBox="1"/>
              <p:nvPr/>
            </p:nvSpPr>
            <p:spPr>
              <a:xfrm>
                <a:off x="1079863" y="4806750"/>
                <a:ext cx="2490651" cy="6767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TF(w, 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∈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C20195-AB74-71AD-FB18-C0AC303B0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863" y="4806750"/>
                <a:ext cx="2490651" cy="676724"/>
              </a:xfrm>
              <a:prstGeom prst="rect">
                <a:avLst/>
              </a:prstGeom>
              <a:blipFill>
                <a:blip r:embed="rId3"/>
                <a:stretch>
                  <a:fillRect l="-3535" b="-72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9D0BF78-AC0A-680A-EF13-1C91D968F794}"/>
              </a:ext>
            </a:extLst>
          </p:cNvPr>
          <p:cNvSpPr txBox="1"/>
          <p:nvPr/>
        </p:nvSpPr>
        <p:spPr>
          <a:xfrm>
            <a:off x="7121668" y="4912836"/>
            <a:ext cx="46547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TF-IDF(w, d) = TF(w, d) x IDF(w, D)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087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TF-IDF. Stage I. TF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E12FA-EE94-C39F-C587-336086BA234B}"/>
              </a:ext>
            </a:extLst>
          </p:cNvPr>
          <p:cNvSpPr txBox="1"/>
          <p:nvPr/>
        </p:nvSpPr>
        <p:spPr>
          <a:xfrm>
            <a:off x="600884" y="1945164"/>
            <a:ext cx="51032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Mapper:</a:t>
            </a:r>
          </a:p>
          <a:p>
            <a:pPr lvl="1"/>
            <a:r>
              <a:rPr lang="en-US" sz="2000" dirty="0"/>
              <a:t>— Input: (</a:t>
            </a:r>
            <a:r>
              <a:rPr lang="en-US" sz="2000" dirty="0" err="1"/>
              <a:t>doc_name</a:t>
            </a:r>
            <a:r>
              <a:rPr lang="en-US" sz="2000" dirty="0"/>
              <a:t>, </a:t>
            </a:r>
            <a:r>
              <a:rPr lang="en-US" sz="2000" dirty="0" err="1"/>
              <a:t>doc_content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— Output: ((word, </a:t>
            </a:r>
            <a:r>
              <a:rPr lang="en-US" sz="2000" dirty="0" err="1"/>
              <a:t>doc_name</a:t>
            </a:r>
            <a:r>
              <a:rPr lang="en-US" sz="2000" dirty="0"/>
              <a:t>), 1)</a:t>
            </a:r>
          </a:p>
          <a:p>
            <a:endParaRPr lang="en-US" sz="2000" dirty="0"/>
          </a:p>
          <a:p>
            <a:r>
              <a:rPr lang="en-US" sz="2000" dirty="0"/>
              <a:t>Reducer:</a:t>
            </a:r>
          </a:p>
          <a:p>
            <a:pPr lvl="1"/>
            <a:r>
              <a:rPr lang="en-US" sz="2000" dirty="0"/>
              <a:t>— Sums the values from the mapper</a:t>
            </a:r>
            <a:endParaRPr lang="ru-RU" sz="2000" dirty="0"/>
          </a:p>
          <a:p>
            <a:pPr lvl="1"/>
            <a:r>
              <a:rPr lang="en-US" sz="2000" dirty="0"/>
              <a:t>— Outputs: ((word, </a:t>
            </a:r>
            <a:r>
              <a:rPr lang="en-US" sz="2000" dirty="0" err="1"/>
              <a:t>doc_name</a:t>
            </a:r>
            <a:r>
              <a:rPr lang="en-US" sz="2000" dirty="0"/>
              <a:t>), </a:t>
            </a:r>
            <a:r>
              <a:rPr lang="en-US" sz="2000" dirty="0" err="1"/>
              <a:t>tf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r>
              <a:rPr lang="en-US" sz="2000" dirty="0"/>
              <a:t>Combiner: same as the Reducer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1D5287-5A3B-2922-CE14-DA0521CE7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32038"/>
            <a:ext cx="56896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17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A0BAEED6-5BAA-B76C-AF12-BE857E59177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" dirty="0"/>
                  <a:t>MapReduce</a:t>
                </a:r>
                <a:r>
                  <a:rPr lang="en-US" dirty="0"/>
                  <a:t>. TF-IDF. Stage II.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 ∈ 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A0BAEED6-5BAA-B76C-AF12-BE857E591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32" t="-17742" b="-338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54E12FA-EE94-C39F-C587-336086BA234B}"/>
              </a:ext>
            </a:extLst>
          </p:cNvPr>
          <p:cNvSpPr txBox="1"/>
          <p:nvPr/>
        </p:nvSpPr>
        <p:spPr>
          <a:xfrm>
            <a:off x="600884" y="1945164"/>
            <a:ext cx="51032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Mapper:</a:t>
            </a:r>
          </a:p>
          <a:p>
            <a:pPr lvl="1"/>
            <a:r>
              <a:rPr lang="en-US" sz="2000" dirty="0"/>
              <a:t>— Input: ((word, </a:t>
            </a:r>
            <a:r>
              <a:rPr lang="en-US" sz="2000" dirty="0" err="1"/>
              <a:t>doc_name</a:t>
            </a:r>
            <a:r>
              <a:rPr lang="en-US" sz="2000" dirty="0"/>
              <a:t>), </a:t>
            </a:r>
            <a:r>
              <a:rPr lang="en-US" sz="2000" dirty="0" err="1"/>
              <a:t>tf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— Output: (word, (</a:t>
            </a:r>
            <a:r>
              <a:rPr lang="en-US" sz="2000" dirty="0" err="1"/>
              <a:t>doc_name</a:t>
            </a:r>
            <a:r>
              <a:rPr lang="en-US" sz="2000" dirty="0"/>
              <a:t>, </a:t>
            </a:r>
            <a:r>
              <a:rPr lang="en-US" sz="2000" dirty="0" err="1"/>
              <a:t>tf</a:t>
            </a:r>
            <a:r>
              <a:rPr lang="en-US" sz="2000" dirty="0"/>
              <a:t>, 1))</a:t>
            </a:r>
          </a:p>
          <a:p>
            <a:endParaRPr lang="en-US" sz="2000" dirty="0"/>
          </a:p>
          <a:p>
            <a:r>
              <a:rPr lang="en-US" sz="2000" dirty="0"/>
              <a:t>Reducer:</a:t>
            </a:r>
          </a:p>
          <a:p>
            <a:pPr lvl="1"/>
            <a:r>
              <a:rPr lang="en-US" sz="2000" dirty="0"/>
              <a:t>— Sums ones from the mapper</a:t>
            </a:r>
            <a:endParaRPr lang="ru-RU" sz="2000" dirty="0"/>
          </a:p>
          <a:p>
            <a:pPr lvl="1"/>
            <a:r>
              <a:rPr lang="en-US" sz="2000" dirty="0"/>
              <a:t>— Output: ((word, </a:t>
            </a:r>
            <a:r>
              <a:rPr lang="en-US" sz="2000" dirty="0" err="1"/>
              <a:t>doc_name</a:t>
            </a:r>
            <a:r>
              <a:rPr lang="en-US" sz="2000" dirty="0"/>
              <a:t>), (</a:t>
            </a:r>
            <a:r>
              <a:rPr lang="en-US" sz="2000" dirty="0" err="1"/>
              <a:t>tf</a:t>
            </a:r>
            <a:r>
              <a:rPr lang="en-US" sz="2000" dirty="0"/>
              <a:t>, n))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FA1EE68-CDD8-AD52-7E98-4C5378994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46300"/>
            <a:ext cx="53721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59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TF-IDF. Stage III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898FDC-BF30-B7EE-A9B4-83E693A30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061" y="2622187"/>
            <a:ext cx="8308457" cy="161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578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Graph processing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3F0D74-516B-532A-647B-EE8C5FFC97E0}"/>
              </a:ext>
            </a:extLst>
          </p:cNvPr>
          <p:cNvSpPr txBox="1"/>
          <p:nvPr/>
        </p:nvSpPr>
        <p:spPr>
          <a:xfrm>
            <a:off x="600884" y="1640364"/>
            <a:ext cx="51032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 = (V, 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V is a set of vertices (nodes)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 is a set of edges (links)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Each edge or vertex can contain additional information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400" dirty="0"/>
          </a:p>
          <a:p>
            <a:r>
              <a:rPr lang="en-US" sz="2400" dirty="0"/>
              <a:t>Examples of large graphs: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Social graph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Network graph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Road graph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…	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4F4E12-83C0-7542-6611-9419EB6A8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888" y="2010274"/>
            <a:ext cx="5047442" cy="298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317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Graph processing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3EA6B9-E119-7FF5-5EFF-0EB438D0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897" y="1849896"/>
            <a:ext cx="4428126" cy="38704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FEC6AB-7D66-0483-3446-5659FF0E4B7E}"/>
              </a:ext>
            </a:extLst>
          </p:cNvPr>
          <p:cNvSpPr txBox="1"/>
          <p:nvPr/>
        </p:nvSpPr>
        <p:spPr>
          <a:xfrm>
            <a:off x="618301" y="1682356"/>
            <a:ext cx="588700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common algorithms: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Graph traversal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The shortest path (between two nodes or between all nodes)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Minimum Spanning Tree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Max Flow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Property evaluation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Web pages ranking</a:t>
            </a:r>
          </a:p>
          <a:p>
            <a:pPr marL="1714500" lvl="3" indent="-342900">
              <a:buFontTx/>
              <a:buChar char="-"/>
            </a:pPr>
            <a:r>
              <a:rPr lang="en-US" sz="2400" dirty="0"/>
              <a:t>PageRank</a:t>
            </a:r>
          </a:p>
          <a:p>
            <a:pPr marL="1714500" lvl="3" indent="-342900">
              <a:buFontTx/>
              <a:buChar char="-"/>
            </a:pPr>
            <a:r>
              <a:rPr lang="en-US" sz="2400" dirty="0"/>
              <a:t>HITS</a:t>
            </a:r>
          </a:p>
        </p:txBody>
      </p:sp>
    </p:spTree>
    <p:extLst>
      <p:ext uri="{BB962C8B-B14F-4D97-AF65-F5344CB8AC3E}">
        <p14:creationId xmlns:p14="http://schemas.microsoft.com/office/powerpoint/2010/main" val="2027533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Graph processing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3F0D74-516B-532A-647B-EE8C5FFC97E0}"/>
              </a:ext>
            </a:extLst>
          </p:cNvPr>
          <p:cNvSpPr txBox="1"/>
          <p:nvPr/>
        </p:nvSpPr>
        <p:spPr>
          <a:xfrm>
            <a:off x="583466" y="2204871"/>
            <a:ext cx="69755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Key questions: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How to store a graph in MapReduce?</a:t>
            </a:r>
          </a:p>
          <a:p>
            <a:pPr marL="1257300" lvl="2" indent="-342900">
              <a:buFontTx/>
              <a:buChar char="-"/>
            </a:pPr>
            <a:r>
              <a:rPr lang="en-US" sz="2400" dirty="0"/>
              <a:t>Have to partition a graph somehow</a:t>
            </a:r>
          </a:p>
          <a:p>
            <a:pPr marL="1257300" lvl="2" indent="-342900">
              <a:buFontTx/>
              <a:buChar char="-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How to traverse a graph in MapReduce?</a:t>
            </a:r>
          </a:p>
          <a:p>
            <a:pPr marL="1257300" lvl="2" indent="-342900">
              <a:buFontTx/>
              <a:buChar char="-"/>
            </a:pPr>
            <a:r>
              <a:rPr lang="en-US" sz="2400" dirty="0"/>
              <a:t>Have to process each chunk independently and then merge them back</a:t>
            </a:r>
          </a:p>
          <a:p>
            <a:pPr lvl="2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5927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Adjacency matrix</a:t>
            </a:r>
            <a:endParaRPr lang="ru-RU" dirty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6EC5888A-A2FC-02F6-332B-18872ED7C3B7}"/>
              </a:ext>
            </a:extLst>
          </p:cNvPr>
          <p:cNvGrpSpPr/>
          <p:nvPr/>
        </p:nvGrpSpPr>
        <p:grpSpPr>
          <a:xfrm>
            <a:off x="5286104" y="3831771"/>
            <a:ext cx="5974080" cy="2432862"/>
            <a:chOff x="5094515" y="3831771"/>
            <a:chExt cx="5974080" cy="2432862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B06CAC51-E0BC-F84F-C8EF-FCFB53187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94515" y="3899261"/>
              <a:ext cx="5974080" cy="2365372"/>
            </a:xfrm>
            <a:prstGeom prst="rect">
              <a:avLst/>
            </a:prstGeom>
          </p:spPr>
        </p:pic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365AADA-087D-6AFF-9D0F-1FE1D9B056A2}"/>
                </a:ext>
              </a:extLst>
            </p:cNvPr>
            <p:cNvSpPr/>
            <p:nvPr/>
          </p:nvSpPr>
          <p:spPr>
            <a:xfrm>
              <a:off x="5277394" y="3831771"/>
              <a:ext cx="3831772" cy="3309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80DBB7-E56B-6039-26C6-AB07CCD75ED2}"/>
                  </a:ext>
                </a:extLst>
              </p:cNvPr>
              <p:cNvSpPr txBox="1"/>
              <p:nvPr/>
            </p:nvSpPr>
            <p:spPr>
              <a:xfrm>
                <a:off x="583466" y="1624873"/>
                <a:ext cx="5512534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Системный шрифт, обычный"/>
                  <a:buChar char="+"/>
                </a:pPr>
                <a:r>
                  <a:rPr lang="en-US" sz="2400" dirty="0"/>
                  <a:t>Easy to create and manage</a:t>
                </a:r>
              </a:p>
              <a:p>
                <a:pPr marL="342900" indent="-342900">
                  <a:buFont typeface="Системный шрифт, обычный"/>
                  <a:buChar char="+"/>
                </a:pPr>
                <a:r>
                  <a:rPr lang="en-US" sz="2400" dirty="0"/>
                  <a:t>Easy to get inbound and outbound edges for any vertex</a:t>
                </a:r>
              </a:p>
              <a:p>
                <a:pPr marL="342900" indent="-342900">
                  <a:buFont typeface="Системный шрифт, обычный"/>
                  <a:buChar char="+"/>
                </a:pPr>
                <a:r>
                  <a:rPr lang="en-US" sz="2400" dirty="0"/>
                  <a:t>Can be used for algebraic graph algorithms</a:t>
                </a:r>
              </a:p>
              <a:p>
                <a:pPr marL="342900" indent="-342900">
                  <a:buFont typeface="Системный шрифт, обычный"/>
                  <a:buChar char="+"/>
                </a:pPr>
                <a:endParaRPr lang="en-US" sz="2400" dirty="0"/>
              </a:p>
              <a:p>
                <a:pPr marL="342900" indent="-342900">
                  <a:buFont typeface="Системный шрифт, обычный"/>
                  <a:buChar char="-"/>
                </a:pPr>
                <a:r>
                  <a:rPr lang="en-US" sz="2400" dirty="0"/>
                  <a:t>Requires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of storage</a:t>
                </a:r>
              </a:p>
              <a:p>
                <a:pPr marL="342900" indent="-342900">
                  <a:buFont typeface="Системный шрифт, обычный"/>
                  <a:buChar char="-"/>
                </a:pPr>
                <a:r>
                  <a:rPr lang="en-US" sz="2400" dirty="0"/>
                  <a:t>Sparse representation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80DBB7-E56B-6039-26C6-AB07CCD75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66" y="1624873"/>
                <a:ext cx="5512534" cy="3046988"/>
              </a:xfrm>
              <a:prstGeom prst="rect">
                <a:avLst/>
              </a:prstGeom>
              <a:blipFill>
                <a:blip r:embed="rId3"/>
                <a:stretch>
                  <a:fillRect l="-1839" t="-2500" b="-37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0728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B32B70AD-5E7D-AF75-5747-3A33F4E3550F}"/>
              </a:ext>
            </a:extLst>
          </p:cNvPr>
          <p:cNvGrpSpPr/>
          <p:nvPr/>
        </p:nvGrpSpPr>
        <p:grpSpPr>
          <a:xfrm>
            <a:off x="3652791" y="3831771"/>
            <a:ext cx="7607393" cy="2432862"/>
            <a:chOff x="3652791" y="3831771"/>
            <a:chExt cx="7607393" cy="2432862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6EC5888A-A2FC-02F6-332B-18872ED7C3B7}"/>
                </a:ext>
              </a:extLst>
            </p:cNvPr>
            <p:cNvGrpSpPr/>
            <p:nvPr/>
          </p:nvGrpSpPr>
          <p:grpSpPr>
            <a:xfrm>
              <a:off x="5286104" y="3831771"/>
              <a:ext cx="5974080" cy="2432862"/>
              <a:chOff x="5094515" y="3831771"/>
              <a:chExt cx="5974080" cy="2432862"/>
            </a:xfrm>
          </p:grpSpPr>
          <p:pic>
            <p:nvPicPr>
              <p:cNvPr id="3" name="Рисунок 2">
                <a:extLst>
                  <a:ext uri="{FF2B5EF4-FFF2-40B4-BE49-F238E27FC236}">
                    <a16:creationId xmlns:a16="http://schemas.microsoft.com/office/drawing/2014/main" id="{B06CAC51-E0BC-F84F-C8EF-FCFB531877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94515" y="3899261"/>
                <a:ext cx="5974080" cy="2365372"/>
              </a:xfrm>
              <a:prstGeom prst="rect">
                <a:avLst/>
              </a:prstGeom>
            </p:spPr>
          </p:pic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F365AADA-087D-6AFF-9D0F-1FE1D9B056A2}"/>
                  </a:ext>
                </a:extLst>
              </p:cNvPr>
              <p:cNvSpPr/>
              <p:nvPr/>
            </p:nvSpPr>
            <p:spPr>
              <a:xfrm>
                <a:off x="5277394" y="3831771"/>
                <a:ext cx="3831772" cy="3309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E5668C88-278E-D6CF-0195-A3DC500CC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52791" y="3989517"/>
              <a:ext cx="4886418" cy="2275116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Adjacency list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80DBB7-E56B-6039-26C6-AB07CCD75ED2}"/>
              </a:ext>
            </a:extLst>
          </p:cNvPr>
          <p:cNvSpPr txBox="1"/>
          <p:nvPr/>
        </p:nvSpPr>
        <p:spPr>
          <a:xfrm>
            <a:off x="583466" y="1624873"/>
            <a:ext cx="55125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Системный шрифт, обычный"/>
              <a:buChar char="+"/>
            </a:pPr>
            <a:r>
              <a:rPr lang="en-US" sz="2400" dirty="0"/>
              <a:t>An effective way to store a graph</a:t>
            </a:r>
          </a:p>
          <a:p>
            <a:pPr marL="342900" indent="-342900">
              <a:buFont typeface="Системный шрифт, обычный"/>
              <a:buChar char="+"/>
            </a:pPr>
            <a:r>
              <a:rPr lang="en-US" sz="2400" dirty="0"/>
              <a:t>Easy to get outbound edges for any vertex</a:t>
            </a:r>
          </a:p>
          <a:p>
            <a:pPr marL="342900" indent="-342900">
              <a:buFont typeface="Системный шрифт, обычный"/>
              <a:buChar char="+"/>
            </a:pPr>
            <a:endParaRPr lang="en-US" sz="2400" dirty="0"/>
          </a:p>
          <a:p>
            <a:pPr marL="342900" indent="-342900">
              <a:buFont typeface="Системный шрифт, обычный"/>
              <a:buChar char="-"/>
            </a:pPr>
            <a:r>
              <a:rPr lang="en-US" sz="2400" dirty="0"/>
              <a:t>Hard to get inbound edges for any vertex</a:t>
            </a:r>
          </a:p>
        </p:txBody>
      </p:sp>
    </p:spTree>
    <p:extLst>
      <p:ext uri="{BB962C8B-B14F-4D97-AF65-F5344CB8AC3E}">
        <p14:creationId xmlns:p14="http://schemas.microsoft.com/office/powerpoint/2010/main" val="2712404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The shortest path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80DBB7-E56B-6039-26C6-AB07CCD75ED2}"/>
              </a:ext>
            </a:extLst>
          </p:cNvPr>
          <p:cNvSpPr txBox="1"/>
          <p:nvPr/>
        </p:nvSpPr>
        <p:spPr>
          <a:xfrm>
            <a:off x="574756" y="2828835"/>
            <a:ext cx="5860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Find the shortest path between two nodes.</a:t>
            </a:r>
          </a:p>
          <a:p>
            <a:endParaRPr lang="en-US" sz="2400" dirty="0"/>
          </a:p>
          <a:p>
            <a:r>
              <a:rPr lang="en-US" sz="2400" dirty="0"/>
              <a:t>Assume all edges have non-negative cost.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10D17D5-13E5-81B0-FC4B-5170E66DA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084" y="2168871"/>
            <a:ext cx="4522160" cy="252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87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Dijkstra's algorithm. Example</a:t>
            </a:r>
            <a:br>
              <a:rPr lang="en-US" sz="4400" dirty="0"/>
            </a:b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3F76B2-1DEA-63AA-8805-B2C45FA37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293" y="1822366"/>
            <a:ext cx="5397414" cy="335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52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Dijkstra's algorithm. Example</a:t>
            </a:r>
            <a:br>
              <a:rPr lang="en-US" sz="4400" dirty="0"/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2C442C-2C5E-F5BE-6EDA-04D4EC089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639" y="1650621"/>
            <a:ext cx="5400721" cy="369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91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Dijkstra's algorithm. Example</a:t>
            </a:r>
            <a:br>
              <a:rPr lang="en-US" sz="4400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54A9A9-C1D6-06A3-5E9C-E66EC4226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936" y="1573167"/>
            <a:ext cx="5402127" cy="385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272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Dijkstra's algorithm. Example</a:t>
            </a:r>
            <a:br>
              <a:rPr lang="en-US" sz="4400" dirty="0"/>
            </a:b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1740C01-F4A1-C725-4DC7-08CDCA2B2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252" y="1536985"/>
            <a:ext cx="5399495" cy="392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782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Dijkstra's algorithm. Example</a:t>
            </a:r>
            <a:br>
              <a:rPr lang="en-US" sz="4400" dirty="0"/>
            </a:b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C1219B-FB4E-6B2B-D2E4-7768EE14F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582" y="1502118"/>
            <a:ext cx="5410835" cy="39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28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Dijkstra's algorithm. Example</a:t>
            </a:r>
            <a:br>
              <a:rPr lang="en-US" sz="4400" dirty="0"/>
            </a:b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55720F3-C009-4D85-96AD-2606C9319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142" y="1449178"/>
            <a:ext cx="5399716" cy="410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01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Dijkstra's algorithm</a:t>
            </a:r>
            <a:br>
              <a:rPr lang="en-US" sz="4400" dirty="0"/>
            </a:b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2BA0667-CDA3-41FF-A4EF-D8683A712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394" y="3135390"/>
            <a:ext cx="6847114" cy="30604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DD65B9-226C-D38B-16D3-518AF3BF5965}"/>
              </a:ext>
            </a:extLst>
          </p:cNvPr>
          <p:cNvSpPr txBox="1"/>
          <p:nvPr/>
        </p:nvSpPr>
        <p:spPr>
          <a:xfrm>
            <a:off x="557339" y="1783807"/>
            <a:ext cx="58608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Requires the global priority queue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Hard to parallelize</a:t>
            </a:r>
          </a:p>
        </p:txBody>
      </p:sp>
    </p:spTree>
    <p:extLst>
      <p:ext uri="{BB962C8B-B14F-4D97-AF65-F5344CB8AC3E}">
        <p14:creationId xmlns:p14="http://schemas.microsoft.com/office/powerpoint/2010/main" val="2807842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Distributed BFS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2868AF-3934-1059-AFBB-FD8322A80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169" y="2281645"/>
            <a:ext cx="4662492" cy="31218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8EDA1C-5945-3CFB-2A9B-83160303A0CA}"/>
              </a:ext>
            </a:extLst>
          </p:cNvPr>
          <p:cNvSpPr txBox="1"/>
          <p:nvPr/>
        </p:nvSpPr>
        <p:spPr>
          <a:xfrm>
            <a:off x="557339" y="2083941"/>
            <a:ext cx="586087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Assume all weights are equal to 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BFS will find the shortest path when we first hit the target node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Each iteration of BFS propagates the frontier of nodes with known shortest paths</a:t>
            </a:r>
          </a:p>
        </p:txBody>
      </p:sp>
    </p:spTree>
    <p:extLst>
      <p:ext uri="{BB962C8B-B14F-4D97-AF65-F5344CB8AC3E}">
        <p14:creationId xmlns:p14="http://schemas.microsoft.com/office/powerpoint/2010/main" val="6414756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Distributed BFS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2C4C523-1C2E-0AF5-6B10-1E15F7DAB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85" y="1488743"/>
            <a:ext cx="3289300" cy="22987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7CACA21-C8BA-39F6-271B-EC8442D80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85" y="4051449"/>
            <a:ext cx="3562317" cy="221318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448473-7AB6-0067-DE62-74EB3B6B5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789" y="1482441"/>
            <a:ext cx="6260801" cy="461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920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Distributed BFS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82BE1E-401B-C9AC-3220-7C1914190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705" y="1356967"/>
            <a:ext cx="8972913" cy="506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648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Distributed BFS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27613-EAC7-775B-7027-0028A1A55790}"/>
              </a:ext>
            </a:extLst>
          </p:cNvPr>
          <p:cNvSpPr txBox="1"/>
          <p:nvPr/>
        </p:nvSpPr>
        <p:spPr>
          <a:xfrm>
            <a:off x="1071145" y="1700763"/>
            <a:ext cx="685365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to define a stopping criterion?</a:t>
            </a:r>
          </a:p>
          <a:p>
            <a:pPr marL="914400" lvl="1" indent="-457200">
              <a:buAutoNum type="arabicPeriod"/>
            </a:pPr>
            <a:r>
              <a:rPr lang="en-US" sz="2400" dirty="0"/>
              <a:t>The first visit to the target node</a:t>
            </a:r>
          </a:p>
          <a:p>
            <a:pPr marL="914400" lvl="1" indent="-457200">
              <a:buAutoNum type="arabicPeriod"/>
            </a:pPr>
            <a:r>
              <a:rPr lang="en-US" sz="2400" dirty="0"/>
              <a:t>The number of iterations == graph diameter</a:t>
            </a:r>
          </a:p>
          <a:p>
            <a:pPr marL="914400" lvl="1" indent="-457200">
              <a:buAutoNum type="arabicPeriod"/>
            </a:pPr>
            <a:endParaRPr lang="en-US" sz="2400" dirty="0"/>
          </a:p>
          <a:p>
            <a:r>
              <a:rPr lang="en-US" sz="2400" dirty="0"/>
              <a:t>Can use: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External driver to check if the criterion is met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Use Hadoop MapReduce Counters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Less effective than Dijkstra's algorithm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Need to preserve the scheme of the 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Useful for large graphs</a:t>
            </a:r>
          </a:p>
        </p:txBody>
      </p:sp>
    </p:spTree>
    <p:extLst>
      <p:ext uri="{BB962C8B-B14F-4D97-AF65-F5344CB8AC3E}">
        <p14:creationId xmlns:p14="http://schemas.microsoft.com/office/powerpoint/2010/main" val="31258488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Distributed BFS. Weighted Edges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27613-EAC7-775B-7027-0028A1A55790}"/>
              </a:ext>
            </a:extLst>
          </p:cNvPr>
          <p:cNvSpPr txBox="1"/>
          <p:nvPr/>
        </p:nvSpPr>
        <p:spPr>
          <a:xfrm>
            <a:off x="566049" y="1356967"/>
            <a:ext cx="53819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Emit (</a:t>
            </a:r>
            <a:r>
              <a:rPr lang="en-US" sz="2400" dirty="0" err="1"/>
              <a:t>min_distance</a:t>
            </a:r>
            <a:r>
              <a:rPr lang="en-US" sz="2400" dirty="0"/>
              <a:t> + </a:t>
            </a:r>
            <a:r>
              <a:rPr lang="en-US" sz="2400" dirty="0" err="1"/>
              <a:t>edge_distance</a:t>
            </a:r>
            <a:r>
              <a:rPr lang="en-US" sz="2400" dirty="0"/>
              <a:t>) instead of (</a:t>
            </a:r>
            <a:r>
              <a:rPr lang="en-US" sz="2400" dirty="0" err="1"/>
              <a:t>min_distance</a:t>
            </a:r>
            <a:r>
              <a:rPr lang="en-US" sz="2400" dirty="0"/>
              <a:t> + 1) in Mapper</a:t>
            </a:r>
          </a:p>
          <a:p>
            <a:endParaRPr lang="en-US" sz="2400" dirty="0"/>
          </a:p>
          <a:p>
            <a:r>
              <a:rPr lang="en-US" sz="2400" dirty="0"/>
              <a:t>Need to change the stopping criterion: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|V| - 1 iterations in the worst case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sz="2400" dirty="0"/>
              <a:t>In practice ~ graph diameter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When all distances stay the same</a:t>
            </a:r>
          </a:p>
          <a:p>
            <a:pPr marL="914400" lvl="1" indent="-457200">
              <a:buAutoNum type="arabicPeriod"/>
            </a:pPr>
            <a:endParaRPr lang="en-US" sz="2400" dirty="0"/>
          </a:p>
          <a:p>
            <a:r>
              <a:rPr lang="en-US" sz="2400" dirty="0"/>
              <a:t>Can use: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External driver to check if the criterion is met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Use Hadoop MapReduce Counters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Equivalent to the Bellman–Ford algorithm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0189ED-DD06-26A4-ED9E-9A836A26E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11412"/>
            <a:ext cx="5710824" cy="197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3799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PageRank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27613-EAC7-775B-7027-0028A1A55790}"/>
              </a:ext>
            </a:extLst>
          </p:cNvPr>
          <p:cNvSpPr txBox="1"/>
          <p:nvPr/>
        </p:nvSpPr>
        <p:spPr>
          <a:xfrm>
            <a:off x="566048" y="1557264"/>
            <a:ext cx="94662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Uses the connectivity between sites to define page authority</a:t>
            </a:r>
          </a:p>
          <a:p>
            <a:pPr marL="914400" lvl="1" indent="-4572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More inbound links —&gt; more authority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an inbound link is from a page with high authority —&gt; more authority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CE920A-B59A-33BD-272D-F5BF585B49E8}"/>
              </a:ext>
            </a:extLst>
          </p:cNvPr>
          <p:cNvSpPr txBox="1"/>
          <p:nvPr/>
        </p:nvSpPr>
        <p:spPr>
          <a:xfrm>
            <a:off x="566048" y="3158974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Defined as the average time a user will spend on the page when following a random walk: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User starts at a random page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User follows a random link</a:t>
            </a:r>
          </a:p>
        </p:txBody>
      </p:sp>
    </p:spTree>
    <p:extLst>
      <p:ext uri="{BB962C8B-B14F-4D97-AF65-F5344CB8AC3E}">
        <p14:creationId xmlns:p14="http://schemas.microsoft.com/office/powerpoint/2010/main" val="26169118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4F143A-817D-EE2B-5A0D-E95B6ADBF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027" y="1356967"/>
            <a:ext cx="5761385" cy="286512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PageRank. Definition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A27613-EAC7-775B-7027-0028A1A55790}"/>
                  </a:ext>
                </a:extLst>
              </p:cNvPr>
              <p:cNvSpPr txBox="1"/>
              <p:nvPr/>
            </p:nvSpPr>
            <p:spPr>
              <a:xfrm>
                <a:off x="566049" y="1557264"/>
                <a:ext cx="616567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Assume: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All start pages are uniformly distributed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All links are uniformly distributed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With probability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 can go to a random page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A27613-EAC7-775B-7027-0028A1A55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49" y="1557264"/>
                <a:ext cx="6165678" cy="2308324"/>
              </a:xfrm>
              <a:prstGeom prst="rect">
                <a:avLst/>
              </a:prstGeom>
              <a:blipFill>
                <a:blip r:embed="rId3"/>
                <a:stretch>
                  <a:fillRect l="-1646" t="-21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6F8D08-3027-493D-6421-C5F37F373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5372" y="4325910"/>
            <a:ext cx="5761385" cy="1237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EF2F18-9E91-69A1-0E8B-4689BF11FFAD}"/>
              </a:ext>
            </a:extLst>
          </p:cNvPr>
          <p:cNvSpPr txBox="1"/>
          <p:nvPr/>
        </p:nvSpPr>
        <p:spPr>
          <a:xfrm>
            <a:off x="635727" y="398960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Then PageRank is defined as a stationary point of the equation: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4A36E5-81E6-0513-46DA-89EF5A22A337}"/>
                  </a:ext>
                </a:extLst>
              </p:cNvPr>
              <p:cNvSpPr txBox="1"/>
              <p:nvPr/>
            </p:nvSpPr>
            <p:spPr>
              <a:xfrm>
                <a:off x="635727" y="5602120"/>
                <a:ext cx="728907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Can be evaluated using the simple iteration method</a:t>
                </a:r>
                <a:endParaRPr lang="en-US" sz="2400" dirty="0"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Usually: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≈0.1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4A36E5-81E6-0513-46DA-89EF5A22A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27" y="5602120"/>
                <a:ext cx="7289073" cy="830997"/>
              </a:xfrm>
              <a:prstGeom prst="rect">
                <a:avLst/>
              </a:prstGeom>
              <a:blipFill>
                <a:blip r:embed="rId5"/>
                <a:stretch>
                  <a:fillRect l="-1217" t="-6061" b="-151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2758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PageRank. Example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B1D7BD2-F5CB-01FA-4B03-11332AAAE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207" y="1722958"/>
            <a:ext cx="9007586" cy="355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8114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PageRank. Example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17582D-DB29-AC93-ABF6-02C7DC390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521" y="1718503"/>
            <a:ext cx="9036957" cy="356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960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sz="4400" dirty="0"/>
              <a:t>PageRank. </a:t>
            </a:r>
            <a:r>
              <a:rPr lang="en-US" dirty="0"/>
              <a:t>Implementation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803CE6-B84A-FD8C-6DD8-E24F117B6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750" y="1811383"/>
            <a:ext cx="5860696" cy="44532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07C9D4-AE07-1FDB-42CA-C01817120BD3}"/>
                  </a:ext>
                </a:extLst>
              </p:cNvPr>
              <p:cNvSpPr txBox="1"/>
              <p:nvPr/>
            </p:nvSpPr>
            <p:spPr>
              <a:xfrm>
                <a:off x="415600" y="1541432"/>
                <a:ext cx="5497701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Repeats until: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Convergence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Fixed number of iterations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Ignores the random jump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Can use an external driver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Do not handle hanging nodes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Then the algorithm converges to </a:t>
                </a:r>
                <a:r>
                  <a:rPr lang="en" sz="2000" dirty="0"/>
                  <a:t>a degenerate</a:t>
                </a:r>
                <a:r>
                  <a:rPr lang="ru-RU" sz="2000" dirty="0"/>
                  <a:t> </a:t>
                </a:r>
                <a:r>
                  <a:rPr lang="en-US" sz="2000" dirty="0"/>
                  <a:t>solution where all probability mass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ends up in the hanging nodes</a:t>
                </a:r>
                <a:endParaRPr lang="en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" sz="2000" dirty="0"/>
                  <a:t>Can use Counters and an external driver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" sz="2000" dirty="0"/>
              </a:p>
              <a:p>
                <a:r>
                  <a:rPr lang="en" sz="2000" dirty="0"/>
                  <a:t>The final formula: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07C9D4-AE07-1FDB-42CA-C01817120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0" y="1541432"/>
                <a:ext cx="5497701" cy="4093428"/>
              </a:xfrm>
              <a:prstGeom prst="rect">
                <a:avLst/>
              </a:prstGeom>
              <a:blipFill>
                <a:blip r:embed="rId3"/>
                <a:stretch>
                  <a:fillRect l="-1152" t="-929" b="-18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7885CD0-250A-0C47-2B3E-4879A1986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928" y="5634860"/>
            <a:ext cx="4195381" cy="78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38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Graph processing problems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7C9D4-AE07-1FDB-42CA-C01817120BD3}"/>
              </a:ext>
            </a:extLst>
          </p:cNvPr>
          <p:cNvSpPr txBox="1"/>
          <p:nvPr/>
        </p:nvSpPr>
        <p:spPr>
          <a:xfrm>
            <a:off x="659259" y="1623613"/>
            <a:ext cx="610730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" sz="2000" dirty="0"/>
              <a:t>Iterative MapReduce algorithms are inefficient: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/>
              <a:t>Hadoop task startup 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/>
              <a:t>Slow or stuck tasks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" sz="2000" dirty="0"/>
              <a:t>The uselessness of the shuffle phase for graphs: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/>
              <a:t>Need to pass the graph structure from the mapper to the reducer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" sz="2000" dirty="0"/>
              <a:t>Use </a:t>
            </a:r>
            <a:r>
              <a:rPr lang="en" sz="2000" b="1" dirty="0"/>
              <a:t>In-mapper Combiners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" sz="2000" dirty="0"/>
              <a:t>Use the </a:t>
            </a:r>
            <a:r>
              <a:rPr lang="en" sz="2000" b="1" dirty="0"/>
              <a:t>structure broadcasting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" sz="2000" dirty="0"/>
              <a:t>Checks at every iteration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" sz="2000" dirty="0"/>
              <a:t>Graphs have a strongly connected local structure: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/>
              <a:t>Better to reduce data in correspondence to locality —&gt; </a:t>
            </a:r>
            <a:r>
              <a:rPr lang="en" sz="2000" b="1" dirty="0"/>
              <a:t>custom partitioning</a:t>
            </a:r>
          </a:p>
        </p:txBody>
      </p:sp>
    </p:spTree>
    <p:extLst>
      <p:ext uri="{BB962C8B-B14F-4D97-AF65-F5344CB8AC3E}">
        <p14:creationId xmlns:p14="http://schemas.microsoft.com/office/powerpoint/2010/main" val="30192023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</a:t>
            </a:r>
            <a:r>
              <a:rPr lang="en-US" dirty="0" err="1"/>
              <a:t>Schimmy</a:t>
            </a:r>
            <a:r>
              <a:rPr lang="en-US" dirty="0"/>
              <a:t> Design Pattern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0E36F3-87EE-3513-5C2A-272E8FD08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444" y="2729268"/>
            <a:ext cx="8569053" cy="3857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826AF4-5802-91A2-0A68-FDAC9EEBEF05}"/>
              </a:ext>
            </a:extLst>
          </p:cNvPr>
          <p:cNvSpPr txBox="1"/>
          <p:nvPr/>
        </p:nvSpPr>
        <p:spPr>
          <a:xfrm>
            <a:off x="659259" y="1623613"/>
            <a:ext cx="8685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000" dirty="0"/>
              <a:t>Each reducer reads and outputs the graph structure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" sz="2000" dirty="0"/>
              <a:t>Intermediate data and graph structure are consistently partitioned by the key</a:t>
            </a:r>
          </a:p>
        </p:txBody>
      </p:sp>
    </p:spTree>
    <p:extLst>
      <p:ext uri="{BB962C8B-B14F-4D97-AF65-F5344CB8AC3E}">
        <p14:creationId xmlns:p14="http://schemas.microsoft.com/office/powerpoint/2010/main" val="16316209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PageRank Performance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9AEA60-A51A-EC84-6E94-CB9D34A49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776" y="1568666"/>
            <a:ext cx="7496447" cy="452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860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1226</Words>
  <Application>Microsoft Macintosh PowerPoint</Application>
  <PresentationFormat>Широкоэкранный</PresentationFormat>
  <Paragraphs>217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8" baseType="lpstr">
      <vt:lpstr>Системный шрифт, обычный</vt:lpstr>
      <vt:lpstr>Arial</vt:lpstr>
      <vt:lpstr>Calibri</vt:lpstr>
      <vt:lpstr>Calibri Light</vt:lpstr>
      <vt:lpstr>Cambria Math</vt:lpstr>
      <vt:lpstr>Courier New</vt:lpstr>
      <vt:lpstr>Helvetica Neue</vt:lpstr>
      <vt:lpstr>Тема Office</vt:lpstr>
      <vt:lpstr>Industrial Machine Learning on Hadoop and Spark </vt:lpstr>
      <vt:lpstr>Distributed computing. Algorithms</vt:lpstr>
      <vt:lpstr>MapReduce. Distinct Values</vt:lpstr>
      <vt:lpstr>MapReduce. Distinct Values I</vt:lpstr>
      <vt:lpstr>MapReduce. Distinct Values II</vt:lpstr>
      <vt:lpstr>MapReduce. Cross-Correlation I</vt:lpstr>
      <vt:lpstr>MapReduce. Cross-Correlation II</vt:lpstr>
      <vt:lpstr>MapReduce. Relational Functions. Sets</vt:lpstr>
      <vt:lpstr>MapReduce. Repartition Join I</vt:lpstr>
      <vt:lpstr>MapReduce. Repartition Join II</vt:lpstr>
      <vt:lpstr>MapReduce. TF-IDF</vt:lpstr>
      <vt:lpstr>MapReduce. TF-IDF. Stage I. TF</vt:lpstr>
      <vt:lpstr>MapReduce. TF-IDF. Stage II. |w ∈ d_i |</vt:lpstr>
      <vt:lpstr>MapReduce. TF-IDF. Stage III</vt:lpstr>
      <vt:lpstr>MapReduce. Graph processing</vt:lpstr>
      <vt:lpstr>MapReduce. Graph processing</vt:lpstr>
      <vt:lpstr>MapReduce. Graph processing</vt:lpstr>
      <vt:lpstr>MapReduce. Adjacency matrix</vt:lpstr>
      <vt:lpstr>MapReduce. Adjacency list</vt:lpstr>
      <vt:lpstr>MapReduce. The shortest path</vt:lpstr>
      <vt:lpstr>MapReduce. Dijkstra's algorithm. Example </vt:lpstr>
      <vt:lpstr>MapReduce. Dijkstra's algorithm. Example </vt:lpstr>
      <vt:lpstr>MapReduce. Dijkstra's algorithm. Example </vt:lpstr>
      <vt:lpstr>MapReduce. Dijkstra's algorithm. Example </vt:lpstr>
      <vt:lpstr>MapReduce. Dijkstra's algorithm. Example </vt:lpstr>
      <vt:lpstr>MapReduce. Dijkstra's algorithm. Example </vt:lpstr>
      <vt:lpstr>MapReduce. Dijkstra's algorithm </vt:lpstr>
      <vt:lpstr>MapReduce. Distributed BFS</vt:lpstr>
      <vt:lpstr>MapReduce. Distributed BFS</vt:lpstr>
      <vt:lpstr>MapReduce. Distributed BFS</vt:lpstr>
      <vt:lpstr>MapReduce. Distributed BFS</vt:lpstr>
      <vt:lpstr>MapReduce. Distributed BFS. Weighted Edges</vt:lpstr>
      <vt:lpstr>MapReduce. PageRank</vt:lpstr>
      <vt:lpstr>MapReduce. PageRank. Definition</vt:lpstr>
      <vt:lpstr>MapReduce. PageRank. Example</vt:lpstr>
      <vt:lpstr>MapReduce. PageRank. Example</vt:lpstr>
      <vt:lpstr>MapReduce. PageRank. Implementation</vt:lpstr>
      <vt:lpstr>MapReduce. Graph processing problems</vt:lpstr>
      <vt:lpstr>MapReduce. Schimmy Design Pattern</vt:lpstr>
      <vt:lpstr>MapReduce. PageRank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Machine Learning on Hadoop and Spark </dc:title>
  <dc:creator>Maksim Nakhodnov</dc:creator>
  <cp:lastModifiedBy>Maksim Nakhodnov</cp:lastModifiedBy>
  <cp:revision>283</cp:revision>
  <dcterms:created xsi:type="dcterms:W3CDTF">2025-09-08T14:49:50Z</dcterms:created>
  <dcterms:modified xsi:type="dcterms:W3CDTF">2025-10-06T17:01:58Z</dcterms:modified>
</cp:coreProperties>
</file>