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2" r:id="rId4"/>
    <p:sldId id="283" r:id="rId5"/>
    <p:sldId id="285" r:id="rId6"/>
    <p:sldId id="284" r:id="rId7"/>
    <p:sldId id="288" r:id="rId8"/>
    <p:sldId id="286" r:id="rId9"/>
    <p:sldId id="287" r:id="rId10"/>
    <p:sldId id="289" r:id="rId11"/>
    <p:sldId id="299" r:id="rId12"/>
    <p:sldId id="277" r:id="rId13"/>
    <p:sldId id="293" r:id="rId14"/>
    <p:sldId id="278" r:id="rId15"/>
    <p:sldId id="280" r:id="rId16"/>
    <p:sldId id="281" r:id="rId17"/>
    <p:sldId id="300" r:id="rId18"/>
    <p:sldId id="301" r:id="rId19"/>
    <p:sldId id="298" r:id="rId20"/>
    <p:sldId id="290" r:id="rId21"/>
    <p:sldId id="291" r:id="rId22"/>
    <p:sldId id="292" r:id="rId23"/>
    <p:sldId id="294" r:id="rId24"/>
    <p:sldId id="295" r:id="rId25"/>
    <p:sldId id="296" r:id="rId26"/>
    <p:sldId id="297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ED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59"/>
    <p:restoredTop sz="96405"/>
  </p:normalViewPr>
  <p:slideViewPr>
    <p:cSldViewPr snapToGrid="0" snapToObjects="1" showGuides="1">
      <p:cViewPr>
        <p:scale>
          <a:sx n="150" d="100"/>
          <a:sy n="150" d="100"/>
        </p:scale>
        <p:origin x="788" y="348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F6EAE-B82E-BC4A-BDEE-36473373A37A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70A5C-8A04-3A47-923A-D08A7CEEFD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1451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c35cb06d2f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c35cb06d2f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c35cb06d2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c35cb06d2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c35cb06d2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c35cb06d2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c35cb06d2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c35cb06d2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c35cb06d2f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c35cb06d2f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c35cb06d2f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c35cb06d2f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c35cb06d2f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c35cb06d2f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c35cb06d2f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c35cb06d2f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b5fb4dc5ed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b5fb4dc5ed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c35cb06d2f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c35cb06d2f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c35cb06d2f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c35cb06d2f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c35cb06d2f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c35cb06d2f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c35cb06d2f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c35cb06d2f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331D5A-E201-7474-4B1A-5BD19B589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CACECF7-4DA8-CE55-6485-5F1F77C5D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284EDE-F261-5961-8FD2-B845DB46C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1ADCB9-5366-F668-C6B4-917C6A2B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C08356-EC1C-C0AF-3442-4A2E7DFC2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964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BE389-735E-A11E-F79E-7640FFA6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FDBF44-CAD3-B74E-10E4-A9BF562D4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DA6533-7671-1C9B-BA84-E51504650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52B4D0-3325-69B2-3960-6E71E567F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A6CF87-AB08-426F-0D53-3DBBE0622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1144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44122F-92D0-FC73-D26B-A821BF52B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7618E2-109C-7CC6-8155-A55233859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23CCF2-8484-59BE-E69A-89874BCA3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C9B669-7276-5091-A52D-22F85797D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5CA5AD-BF3F-27BF-55E4-649A0CC07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5820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49B833-9DC9-0B81-C4D9-6B42F2DDF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877BDE-B32D-8958-29C3-D2A9F9AAA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E119958-D063-99B2-E2FB-30A66DD96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7470D1E-2CCE-EEAF-B672-3A9E9D40A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86A597-B7D1-ED62-3285-D364F0AF4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F470D36-BCC0-3261-B1F0-7D6B5A81E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659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3B1CC6-C706-B6C0-FDCB-FA94B910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3CBE6A-5B25-27D0-C684-29DB79D2A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1DF7E6A-40E3-46D1-9B43-524503710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135165E-9BAF-31E2-E4E8-01CCA24D0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CB16CD3-56D3-A37F-56FB-CE97EA8BA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A7ED33E-EA87-D8F4-8992-401D344DF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1F2D7E0-2878-41A1-0EC2-2B9014873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F9222BA-7D9B-88A0-B7E5-3BBA14C9A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8540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B90632-6D57-82C4-2334-6DFDE27CA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CD5B416-D99B-CA60-B9BA-29273A2A3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18C257F-7982-2BE5-A531-70E7DF016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063ED8-ADAF-F272-99DD-66C03E212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243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A43745E-ABFC-44E7-14B0-CB7766BEC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255CDFB-3A4E-79BA-93DA-AFA0361A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D84A93-B78B-7BF0-7AA4-7F685BD1D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755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B65BCE-05D7-FEFD-3533-C07B8BD8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111FC4-2EA3-6308-8156-C72F88ACF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113F83-276C-691B-A16E-5E74F3316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0739AA7-5F87-7737-D618-DE755B101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82F201D-5D8D-F270-7379-B9C697035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FBCD0D-823D-8001-7BDA-17B72BE3A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5512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5CC6E7-F034-BA12-B3FB-BED1D63B6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C78D401-37AC-6344-4558-04D562F937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357C2E-F25D-F67E-7554-5F7589753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24F36D-DEC8-00E6-0287-01C503A3D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96FBDD6-3BCC-9FE1-DC82-EA39E795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677A20-1D78-B2AE-AD62-ABBFEDE12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3140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9D4461-D3CB-615C-7987-4673B4D09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6CF3012-741E-4439-39E5-C94A53DAA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3AED54-2280-AEF4-1870-59EA90000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083FE9-8983-5897-BB3B-E39F9FFE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79589F-B354-4ED6-6AAA-B1D90D37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567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FD55CA7-3716-60C4-6659-BAA53780DE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273567-58FC-40D3-90BB-9E2609103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B68AFA-4476-9BBD-3200-AEF1074E3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E15B1D-1856-7580-F921-A5F9EA96E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5C6A57-CD75-9D77-B2B2-E346F9CD6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8998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4050727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497047-18CC-B795-F77F-282CCFD8D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4874D3-7A2D-F771-C8DF-F7BAF0335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0163B5-2B4B-30D5-90A2-68163F2681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58E46-324A-0F41-A8E0-24AAA974ABFE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63CEBD-2B04-9620-F1D7-51A9CE25B8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199310-CB4C-7A92-B236-7EBB29C829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945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gdataschool.ru/wiki/datafram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CD94878-F624-767A-70EF-8946148807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229" b="-6088"/>
          <a:stretch/>
        </p:blipFill>
        <p:spPr>
          <a:xfrm>
            <a:off x="0" y="0"/>
            <a:ext cx="12192000" cy="734479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F8BB4-F5CF-1511-E969-809676AC8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179" y="3641967"/>
            <a:ext cx="10515600" cy="2189797"/>
          </a:xfrm>
        </p:spPr>
        <p:txBody>
          <a:bodyPr>
            <a:normAutofit fontScale="90000"/>
          </a:bodyPr>
          <a:lstStyle/>
          <a:p>
            <a:pPr algn="l"/>
            <a:r>
              <a:rPr lang="en" b="1" dirty="0">
                <a:ln w="22225">
                  <a:solidFill>
                    <a:schemeClr val="bg1"/>
                  </a:solidFill>
                  <a:prstDash val="solid"/>
                </a:ln>
                <a:latin typeface="Helvetica Neue" panose="02000503000000020004" pitchFamily="2" charset="0"/>
              </a:rPr>
              <a:t>Industrial Machine Learning on Hadoop and Spark</a:t>
            </a:r>
            <a:br>
              <a:rPr lang="en" b="1" dirty="0">
                <a:ln w="22225">
                  <a:solidFill>
                    <a:schemeClr val="bg1"/>
                  </a:solidFill>
                  <a:prstDash val="solid"/>
                </a:ln>
                <a:latin typeface="Helvetica Neue" panose="02000503000000020004" pitchFamily="2" charset="0"/>
              </a:rPr>
            </a:br>
            <a:endParaRPr lang="ru-RU" b="1" dirty="0">
              <a:ln w="22225">
                <a:solidFill>
                  <a:schemeClr val="bg1"/>
                </a:solidFill>
                <a:prstDash val="solid"/>
              </a:ln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5E0D339-4BFD-3D45-CBF6-BC3154748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21672" y="6129627"/>
            <a:ext cx="5648960" cy="378902"/>
          </a:xfrm>
        </p:spPr>
        <p:txBody>
          <a:bodyPr>
            <a:normAutofit/>
          </a:bodyPr>
          <a:lstStyle/>
          <a:p>
            <a:r>
              <a:rPr lang="en" sz="2000" b="1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Maks</a:t>
            </a:r>
            <a:r>
              <a:rPr lang="en" sz="2000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" sz="2000" b="1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Nakhodnov</a:t>
            </a:r>
            <a:r>
              <a:rPr lang="en" sz="2000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, Bremen 2025</a:t>
            </a:r>
            <a:endParaRPr lang="en" sz="200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890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A92E03-FC92-52CB-17FF-7BE9F4505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sz="4400" dirty="0">
                <a:ea typeface="Times New Roman"/>
                <a:cs typeface="Times New Roman" panose="02020603050405020304" pitchFamily="18" charset="0"/>
                <a:sym typeface="Times New Roman"/>
              </a:rPr>
              <a:t>Distributed computing</a:t>
            </a:r>
            <a:r>
              <a:rPr lang="ru-RU" sz="4400" dirty="0">
                <a:ea typeface="Times New Roman"/>
                <a:cs typeface="Times New Roman" panose="02020603050405020304" pitchFamily="18" charset="0"/>
                <a:sym typeface="Times New Roman"/>
              </a:rPr>
              <a:t>. </a:t>
            </a:r>
            <a:r>
              <a:rPr lang="en-US" dirty="0"/>
              <a:t>Spark Streaming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3A7CED-94F3-7500-3D48-5CF5EB0D1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Plan:</a:t>
            </a:r>
            <a:endParaRPr lang="en-US" dirty="0"/>
          </a:p>
          <a:p>
            <a:pPr lvl="1"/>
            <a:r>
              <a:rPr lang="en-US" dirty="0"/>
              <a:t>Streaming data, where to find it</a:t>
            </a:r>
          </a:p>
          <a:p>
            <a:pPr lvl="1"/>
            <a:r>
              <a:rPr lang="en-US" dirty="0"/>
              <a:t>Failure scenarios. Handling data loss scenarios</a:t>
            </a:r>
          </a:p>
          <a:p>
            <a:pPr lvl="1"/>
            <a:r>
              <a:rPr lang="en-US" dirty="0"/>
              <a:t>Lambda architecture</a:t>
            </a:r>
          </a:p>
          <a:p>
            <a:pPr lvl="1"/>
            <a:r>
              <a:rPr lang="en-US" dirty="0"/>
              <a:t>Spark Streaming &amp; </a:t>
            </a:r>
            <a:r>
              <a:rPr lang="en-US" dirty="0" err="1"/>
              <a:t>DStream</a:t>
            </a:r>
            <a:r>
              <a:rPr lang="en-US" dirty="0"/>
              <a:t>. Structured Streaming</a:t>
            </a:r>
          </a:p>
          <a:p>
            <a:pPr lvl="1"/>
            <a:r>
              <a:rPr lang="en-US" dirty="0"/>
              <a:t>Integration with </a:t>
            </a:r>
            <a:r>
              <a:rPr lang="en-US" dirty="0" err="1"/>
              <a:t>MLlib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353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441CE-C187-0136-DD47-1B23C6EE6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E71719-2FD5-0DF7-8F52-1EC019CE9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Streaming data and where to find it?</a:t>
            </a:r>
          </a:p>
        </p:txBody>
      </p:sp>
      <p:sp>
        <p:nvSpPr>
          <p:cNvPr id="4" name="Google Shape;94;p17">
            <a:extLst>
              <a:ext uri="{FF2B5EF4-FFF2-40B4-BE49-F238E27FC236}">
                <a16:creationId xmlns:a16="http://schemas.microsoft.com/office/drawing/2014/main" id="{E47DD7FC-5048-3CC3-11DD-D2CA22A66585}"/>
              </a:ext>
            </a:extLst>
          </p:cNvPr>
          <p:cNvSpPr txBox="1"/>
          <p:nvPr/>
        </p:nvSpPr>
        <p:spPr>
          <a:xfrm>
            <a:off x="763820" y="2179250"/>
            <a:ext cx="5560780" cy="264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2000" dirty="0">
                <a:sym typeface="Times New Roman"/>
              </a:rPr>
              <a:t>IoT Sensors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endParaRPr lang="en-US" sz="2000" dirty="0"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2000" dirty="0">
                <a:sym typeface="Times New Roman"/>
              </a:rPr>
              <a:t>Server logs and security logs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endParaRPr lang="en-US" sz="2000" dirty="0"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2000" dirty="0">
                <a:sym typeface="Times New Roman"/>
              </a:rPr>
              <a:t>Real-time advertising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endParaRPr lang="en-US" sz="2000" dirty="0"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2000" dirty="0">
                <a:sym typeface="Times New Roman"/>
              </a:rPr>
              <a:t>Clickstream data from applications and websites</a:t>
            </a:r>
            <a:endParaRPr sz="2000" dirty="0">
              <a:sym typeface="Times New Roman"/>
            </a:endParaRPr>
          </a:p>
        </p:txBody>
      </p:sp>
      <p:pic>
        <p:nvPicPr>
          <p:cNvPr id="7" name="Google Shape;95;p17">
            <a:extLst>
              <a:ext uri="{FF2B5EF4-FFF2-40B4-BE49-F238E27FC236}">
                <a16:creationId xmlns:a16="http://schemas.microsoft.com/office/drawing/2014/main" id="{278B75CD-FA39-664C-6643-D752A39BD2E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">
            <a:alphaModFix/>
          </a:blip>
          <a:srcRect t="2353"/>
          <a:stretch/>
        </p:blipFill>
        <p:spPr>
          <a:xfrm>
            <a:off x="7273240" y="1493886"/>
            <a:ext cx="3592880" cy="46521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9342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B1F25-C810-F00A-8FAA-DAA1A83E9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18E63E-E8E7-75B2-33B6-E143CDB72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Failure scenarios. Failure during processing. At-most-once</a:t>
            </a:r>
            <a:endParaRPr lang="ru-RU" sz="3200" dirty="0"/>
          </a:p>
        </p:txBody>
      </p:sp>
      <p:pic>
        <p:nvPicPr>
          <p:cNvPr id="3" name="Google Shape;134;p24">
            <a:extLst>
              <a:ext uri="{FF2B5EF4-FFF2-40B4-BE49-F238E27FC236}">
                <a16:creationId xmlns:a16="http://schemas.microsoft.com/office/drawing/2014/main" id="{393C3B57-056E-6FE5-D490-4B809BF36E1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6173"/>
          <a:stretch/>
        </p:blipFill>
        <p:spPr>
          <a:xfrm>
            <a:off x="1949336" y="1889813"/>
            <a:ext cx="8293327" cy="30783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6465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6D5E2-077C-C7EE-CD92-651D73BE0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497DFB-23E2-4838-6944-FDA7D7314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8704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Failure scenarios. Distributed Snapshot</a:t>
            </a:r>
            <a:endParaRPr lang="ru-RU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BF747C-D899-C032-11FF-D6CAB757BC1F}"/>
              </a:ext>
            </a:extLst>
          </p:cNvPr>
          <p:cNvSpPr txBox="1"/>
          <p:nvPr/>
        </p:nvSpPr>
        <p:spPr>
          <a:xfrm>
            <a:off x="299720" y="1761351"/>
            <a:ext cx="570992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/>
              <a:t>The state for each operator in the streaming application is periodically checkpointed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/>
              <a:t>In the event of a failure, all the state is rolled back to the most recent globally consistent checkpoint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b="1" dirty="0"/>
              <a:t>Sources are reset to the offset corresponding to the checkpoint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/>
              <a:t>The application is rewound to its most recent consistent state, processing can then restart from that state</a:t>
            </a:r>
            <a:endParaRPr lang="en-US" sz="2200" b="0" i="0" dirty="0">
              <a:solidFill>
                <a:srgbClr val="333333"/>
              </a:solidFill>
              <a:effectLst/>
            </a:endParaRPr>
          </a:p>
        </p:txBody>
      </p:sp>
      <p:pic>
        <p:nvPicPr>
          <p:cNvPr id="1026" name="Picture 2" descr="Figure 4. Distributed snapshot">
            <a:extLst>
              <a:ext uri="{FF2B5EF4-FFF2-40B4-BE49-F238E27FC236}">
                <a16:creationId xmlns:a16="http://schemas.microsoft.com/office/drawing/2014/main" id="{BC66F62F-460B-FCCB-2890-D78549B7F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560" y="1412240"/>
            <a:ext cx="5528531" cy="4897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3086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01949-898E-2DD2-3841-FA66003F5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F47E5B-508B-71AD-42A7-792E5487D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8704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Failure scenarios. Failure during sending the processing result response. At-least-once</a:t>
            </a:r>
            <a:endParaRPr lang="ru-RU" sz="3600" dirty="0"/>
          </a:p>
        </p:txBody>
      </p:sp>
      <p:pic>
        <p:nvPicPr>
          <p:cNvPr id="4" name="Google Shape;140;p25">
            <a:extLst>
              <a:ext uri="{FF2B5EF4-FFF2-40B4-BE49-F238E27FC236}">
                <a16:creationId xmlns:a16="http://schemas.microsoft.com/office/drawing/2014/main" id="{149D6C57-C02D-003B-2AB7-D744C335247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76398" y="1804687"/>
            <a:ext cx="8839201" cy="32407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3370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7C786-2F14-063A-2FB3-6E9F44DBB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875C0E-BD41-F220-72DA-AC6DAB746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8704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Failure scenarios. At-least-once event delivery. Message deduplication</a:t>
            </a:r>
          </a:p>
        </p:txBody>
      </p:sp>
      <p:pic>
        <p:nvPicPr>
          <p:cNvPr id="2052" name="Picture 4" descr="Exactly-once Semantics is Possible: Here's How Apache Kafka Does it">
            <a:extLst>
              <a:ext uri="{FF2B5EF4-FFF2-40B4-BE49-F238E27FC236}">
                <a16:creationId xmlns:a16="http://schemas.microsoft.com/office/drawing/2014/main" id="{51618B51-A918-312F-66A3-A54A65760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9" y="1812608"/>
            <a:ext cx="7620000" cy="444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1066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8BB2D-B006-289E-B996-99B5AAB2F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6213C4-C19B-CEAC-3877-B0824857B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8704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Failure scenarios. At-least-once event delivery. Message deduplication</a:t>
            </a:r>
            <a:endParaRPr lang="ru-RU" sz="3600" dirty="0"/>
          </a:p>
        </p:txBody>
      </p:sp>
      <p:pic>
        <p:nvPicPr>
          <p:cNvPr id="2050" name="Picture 2" descr="Figure 5. At-least-once delivery plus deduplication">
            <a:extLst>
              <a:ext uri="{FF2B5EF4-FFF2-40B4-BE49-F238E27FC236}">
                <a16:creationId xmlns:a16="http://schemas.microsoft.com/office/drawing/2014/main" id="{8631041E-E536-2D38-0CB8-2254F80AB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339" y="1949185"/>
            <a:ext cx="10307320" cy="365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0349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E07B1-C8DD-5ED8-97D3-6CBD1C559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E187EA-5DC2-1247-B701-BF81992E3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8704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End-to-end Exactly One Guarantee</a:t>
            </a:r>
            <a:endParaRPr lang="ru-RU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A75C76-735B-7EF3-2E2F-E2A93C3137BD}"/>
              </a:ext>
            </a:extLst>
          </p:cNvPr>
          <p:cNvSpPr txBox="1"/>
          <p:nvPr/>
        </p:nvSpPr>
        <p:spPr>
          <a:xfrm>
            <a:off x="528319" y="1745953"/>
            <a:ext cx="4968241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i="1" dirty="0"/>
              <a:t>Distributed snapshot:</a:t>
            </a:r>
          </a:p>
          <a:p>
            <a:pPr marL="800100" lvl="1" indent="-342900" algn="just">
              <a:buFont typeface="Calibri" panose="020F0502020204030204" pitchFamily="34" charset="0"/>
              <a:buChar char="+"/>
            </a:pPr>
            <a:r>
              <a:rPr lang="en-US" i="1" dirty="0"/>
              <a:t>Little performance and resource overhead</a:t>
            </a:r>
          </a:p>
          <a:p>
            <a:pPr marL="800100" lvl="1" indent="-342900" algn="just">
              <a:buFont typeface="Calibri" panose="020F0502020204030204" pitchFamily="34" charset="0"/>
              <a:buChar char="+"/>
            </a:pPr>
            <a:endParaRPr lang="en-US" i="1" dirty="0"/>
          </a:p>
          <a:p>
            <a:pPr marL="800100" lvl="1" indent="-342900" algn="just">
              <a:buFont typeface="Calibri" panose="020F0502020204030204" pitchFamily="34" charset="0"/>
              <a:buChar char="+"/>
            </a:pPr>
            <a:endParaRPr lang="en-US" i="1" dirty="0"/>
          </a:p>
          <a:p>
            <a:pPr marL="800100" lvl="1" indent="-342900" algn="just">
              <a:buFont typeface="Calibri" panose="020F0502020204030204" pitchFamily="34" charset="0"/>
              <a:buChar char="+"/>
            </a:pPr>
            <a:endParaRPr lang="en-US" i="1" dirty="0"/>
          </a:p>
          <a:p>
            <a:pPr marL="800100" lvl="1" indent="-342900" algn="just">
              <a:buFont typeface="Calibri" panose="020F0502020204030204" pitchFamily="34" charset="0"/>
              <a:buChar char="-"/>
            </a:pPr>
            <a:r>
              <a:rPr lang="en-US" i="1" dirty="0"/>
              <a:t>Larger impact to performance when recovering from failures</a:t>
            </a:r>
          </a:p>
          <a:p>
            <a:pPr marL="800100" lvl="1" indent="-342900" algn="just">
              <a:buFont typeface="Calibri" panose="020F0502020204030204" pitchFamily="34" charset="0"/>
              <a:buChar char="-"/>
            </a:pPr>
            <a:endParaRPr lang="en-US" i="1" dirty="0"/>
          </a:p>
          <a:p>
            <a:pPr marL="800100" lvl="1" indent="-342900" algn="just">
              <a:buFont typeface="Calibri" panose="020F0502020204030204" pitchFamily="34" charset="0"/>
              <a:buChar char="-"/>
            </a:pPr>
            <a:r>
              <a:rPr lang="en-US" i="1" dirty="0"/>
              <a:t>Potential impact to performance increases as topology gets larger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5310FC-02D4-EE1E-4E50-01D3196A8833}"/>
              </a:ext>
            </a:extLst>
          </p:cNvPr>
          <p:cNvSpPr txBox="1"/>
          <p:nvPr/>
        </p:nvSpPr>
        <p:spPr>
          <a:xfrm>
            <a:off x="6243320" y="1435001"/>
            <a:ext cx="523240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Calibri" panose="020F0502020204030204" pitchFamily="34" charset="0"/>
              <a:buChar char="-"/>
            </a:pPr>
            <a:endParaRPr lang="en-US" sz="2000" b="1" i="0" dirty="0">
              <a:solidFill>
                <a:srgbClr val="333333"/>
              </a:solidFill>
              <a:effectLst/>
            </a:endParaRPr>
          </a:p>
          <a:p>
            <a:pPr algn="just"/>
            <a:r>
              <a:rPr lang="en-US" sz="2000" b="1" dirty="0"/>
              <a:t>At-least-once delivery plus deduplication</a:t>
            </a:r>
            <a:r>
              <a:rPr lang="en-US" sz="2000" b="1" i="0" dirty="0">
                <a:solidFill>
                  <a:srgbClr val="333333"/>
                </a:solidFill>
                <a:effectLst/>
              </a:rPr>
              <a:t>:</a:t>
            </a:r>
          </a:p>
          <a:p>
            <a:pPr marL="800100" lvl="1" indent="-342900" algn="just">
              <a:buFont typeface="Calibri" panose="020F0502020204030204" pitchFamily="34" charset="0"/>
              <a:buChar char="+"/>
            </a:pPr>
            <a:r>
              <a:rPr lang="en-US" dirty="0"/>
              <a:t>Performance impact of failures are localized</a:t>
            </a:r>
          </a:p>
          <a:p>
            <a:pPr marL="800100" lvl="1" indent="-342900" algn="just">
              <a:buFont typeface="Calibri" panose="020F0502020204030204" pitchFamily="34" charset="0"/>
              <a:buChar char="+"/>
            </a:pPr>
            <a:r>
              <a:rPr lang="en-US" dirty="0"/>
              <a:t>Impact of failures does not necessarily increase with the size of the topology</a:t>
            </a:r>
          </a:p>
          <a:p>
            <a:pPr marL="800100" lvl="1" indent="-342900" algn="just">
              <a:buFont typeface="Calibri" panose="020F0502020204030204" pitchFamily="34" charset="0"/>
              <a:buChar char="+"/>
            </a:pPr>
            <a:endParaRPr lang="en-US" dirty="0"/>
          </a:p>
          <a:p>
            <a:pPr marL="800100" lvl="1" indent="-342900" algn="just">
              <a:buFont typeface="Calibri" panose="020F0502020204030204" pitchFamily="34" charset="0"/>
              <a:buChar char="-"/>
            </a:pPr>
            <a:r>
              <a:rPr lang="en-US" dirty="0"/>
              <a:t>Potentially need large amounts of storage and infrastructure to support</a:t>
            </a:r>
          </a:p>
          <a:p>
            <a:pPr marL="800100" lvl="1" indent="-342900" algn="just">
              <a:buFont typeface="Calibri" panose="020F0502020204030204" pitchFamily="34" charset="0"/>
              <a:buChar char="-"/>
            </a:pPr>
            <a:endParaRPr lang="en-US" dirty="0"/>
          </a:p>
          <a:p>
            <a:pPr marL="800100" lvl="1" indent="-342900" algn="just">
              <a:buFont typeface="Calibri" panose="020F0502020204030204" pitchFamily="34" charset="0"/>
              <a:buChar char="-"/>
            </a:pPr>
            <a:r>
              <a:rPr lang="en-US" dirty="0"/>
              <a:t>Performance overhead for every event at every operator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698582-E130-A289-DDE2-7F30246792A5}"/>
              </a:ext>
            </a:extLst>
          </p:cNvPr>
          <p:cNvSpPr txBox="1"/>
          <p:nvPr/>
        </p:nvSpPr>
        <p:spPr>
          <a:xfrm>
            <a:off x="838199" y="5175796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i="0" dirty="0">
                <a:effectLst/>
              </a:rPr>
              <a:t>In all cases, </a:t>
            </a:r>
            <a:r>
              <a:rPr lang="en-US" b="1" i="0" dirty="0">
                <a:effectLst/>
              </a:rPr>
              <a:t>the final state </a:t>
            </a:r>
            <a:r>
              <a:rPr lang="en-US" i="0" dirty="0">
                <a:effectLst/>
              </a:rPr>
              <a:t>of the data in the storage will be </a:t>
            </a:r>
            <a:r>
              <a:rPr lang="en-US" b="1" i="0" dirty="0">
                <a:effectLst/>
              </a:rPr>
              <a:t>exactly the same as if there were no failures </a:t>
            </a:r>
            <a:r>
              <a:rPr lang="en-US" i="0" dirty="0">
                <a:effectLst/>
              </a:rPr>
              <a:t>and each message was processed exactly once.</a:t>
            </a:r>
          </a:p>
          <a:p>
            <a:pPr algn="just"/>
            <a:endParaRPr lang="en-US" dirty="0"/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It does not guarantee exactly once processing!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810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E8657-98BA-88C4-1E96-F89E8085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5CB8C36D-8850-1AB3-27FA-5E22A05AA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39" y="895082"/>
            <a:ext cx="11673841" cy="469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488ADF-EE6F-08F1-198F-3720985220D0}"/>
              </a:ext>
            </a:extLst>
          </p:cNvPr>
          <p:cNvSpPr txBox="1"/>
          <p:nvPr/>
        </p:nvSpPr>
        <p:spPr>
          <a:xfrm>
            <a:off x="787399" y="5317387"/>
            <a:ext cx="95808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Lambda architecture combines </a:t>
            </a:r>
            <a:r>
              <a:rPr lang="en-US" b="1" dirty="0"/>
              <a:t>two separate data pipelines</a:t>
            </a:r>
            <a:r>
              <a:rPr lang="en-US" dirty="0"/>
              <a:t>: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Batch Layer</a:t>
            </a:r>
            <a:r>
              <a:rPr lang="en-US" dirty="0"/>
              <a:t> for processing large volumes of historical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Speed (streaming) Layer</a:t>
            </a:r>
            <a:r>
              <a:rPr lang="en-US" dirty="0"/>
              <a:t> for real-time stream processing for low-latency views of data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D79B03-9343-0D03-A25B-14CA589E5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9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Lambda architecture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141616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1"/>
          <p:cNvSpPr txBox="1">
            <a:spLocks noGrp="1"/>
          </p:cNvSpPr>
          <p:nvPr>
            <p:ph type="title"/>
          </p:nvPr>
        </p:nvSpPr>
        <p:spPr>
          <a:xfrm>
            <a:off x="415600" y="280844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en-US" dirty="0">
                <a:ea typeface="Times New Roman"/>
                <a:cs typeface="Times New Roman"/>
                <a:sym typeface="Times New Roman"/>
              </a:rPr>
              <a:t>Spark Streaming &amp; </a:t>
            </a:r>
            <a:r>
              <a:rPr lang="en-US" dirty="0" err="1">
                <a:ea typeface="Times New Roman"/>
                <a:cs typeface="Times New Roman"/>
                <a:sym typeface="Times New Roman"/>
              </a:rPr>
              <a:t>DStream</a:t>
            </a:r>
            <a:endParaRPr dirty="0"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4"/>
          <p:cNvPicPr preferRelativeResize="0"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680" y="1668277"/>
            <a:ext cx="10454639" cy="390710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4754A-3FA8-CD25-65E3-432F7A784C13}"/>
              </a:ext>
            </a:extLst>
          </p:cNvPr>
          <p:cNvSpPr txBox="1">
            <a:spLocks/>
          </p:cNvSpPr>
          <p:nvPr/>
        </p:nvSpPr>
        <p:spPr>
          <a:xfrm>
            <a:off x="787399" y="520515"/>
            <a:ext cx="10515600" cy="78504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z="4000" dirty="0"/>
              <a:t>Spark Streaming</a:t>
            </a:r>
            <a:endParaRPr lang="ru-RU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7BC1ED1-51CA-727B-A3E0-3440935D1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966" y="1371933"/>
            <a:ext cx="7123626" cy="247837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2332974-9130-031E-069B-6AF9BADF4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966" y="4246880"/>
            <a:ext cx="7855062" cy="2229635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51EA06C-956C-BC47-55D6-9B55DC7274FA}"/>
              </a:ext>
            </a:extLst>
          </p:cNvPr>
          <p:cNvSpPr txBox="1">
            <a:spLocks/>
          </p:cNvSpPr>
          <p:nvPr/>
        </p:nvSpPr>
        <p:spPr>
          <a:xfrm>
            <a:off x="787399" y="520515"/>
            <a:ext cx="10515600" cy="78504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z="4000" dirty="0"/>
              <a:t>Spark Streaming. Micro Batches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186371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210506"/>
            <a:ext cx="11785599" cy="263002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9E1DF6F-12C6-0441-383B-61384196CD56}"/>
              </a:ext>
            </a:extLst>
          </p:cNvPr>
          <p:cNvSpPr txBox="1">
            <a:spLocks/>
          </p:cNvSpPr>
          <p:nvPr/>
        </p:nvSpPr>
        <p:spPr>
          <a:xfrm>
            <a:off x="787399" y="520515"/>
            <a:ext cx="10515600" cy="78504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z="4000" dirty="0"/>
              <a:t>Spark Streaming. Programming model</a:t>
            </a:r>
            <a:endParaRPr lang="ru-RU" sz="4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1355773"/>
            <a:ext cx="11785600" cy="258181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C1026-0B32-74BB-AD45-45BD244CF5E0}"/>
              </a:ext>
            </a:extLst>
          </p:cNvPr>
          <p:cNvSpPr txBox="1">
            <a:spLocks/>
          </p:cNvSpPr>
          <p:nvPr/>
        </p:nvSpPr>
        <p:spPr>
          <a:xfrm>
            <a:off x="736599" y="462281"/>
            <a:ext cx="10515600" cy="84328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z="4000" dirty="0" err="1"/>
              <a:t>DStream</a:t>
            </a:r>
            <a:r>
              <a:rPr lang="en-US" sz="4000" dirty="0"/>
              <a:t>. RDD Sequence</a:t>
            </a:r>
            <a:endParaRPr lang="ru-RU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70B2A7-049D-44EC-FAD4-A52D45B9879E}"/>
              </a:ext>
            </a:extLst>
          </p:cNvPr>
          <p:cNvSpPr txBox="1"/>
          <p:nvPr/>
        </p:nvSpPr>
        <p:spPr>
          <a:xfrm>
            <a:off x="660398" y="3987798"/>
            <a:ext cx="922020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DStream</a:t>
            </a:r>
            <a:r>
              <a:rPr lang="en-US" b="1" dirty="0"/>
              <a:t> (Discretized Stream)</a:t>
            </a:r>
            <a:r>
              <a:rPr lang="en-US" dirty="0"/>
              <a:t> — the basic abstraction of Spark Streaming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Represents a continuous stream of data (from a source or after processing)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Internally implemented as a sequence of RDDs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RDD contains data for a fixed time interval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1333301"/>
            <a:ext cx="11785600" cy="419139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41799E9-D3F1-B08D-2090-F05526292A53}"/>
              </a:ext>
            </a:extLst>
          </p:cNvPr>
          <p:cNvSpPr txBox="1">
            <a:spLocks/>
          </p:cNvSpPr>
          <p:nvPr/>
        </p:nvSpPr>
        <p:spPr>
          <a:xfrm>
            <a:off x="736599" y="462281"/>
            <a:ext cx="10515600" cy="84328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z="4000" dirty="0" err="1"/>
              <a:t>DStream</a:t>
            </a:r>
            <a:r>
              <a:rPr lang="en-US" sz="4000" dirty="0"/>
              <a:t>. RDD Sequence</a:t>
            </a:r>
            <a:endParaRPr lang="ru-RU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1128801"/>
            <a:ext cx="11785600" cy="46004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32E007B9-64C2-440C-D5C3-4BC11F6DC726}"/>
              </a:ext>
            </a:extLst>
          </p:cNvPr>
          <p:cNvSpPr txBox="1">
            <a:spLocks/>
          </p:cNvSpPr>
          <p:nvPr/>
        </p:nvSpPr>
        <p:spPr>
          <a:xfrm>
            <a:off x="736599" y="462281"/>
            <a:ext cx="10515600" cy="84328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z="4000" dirty="0" err="1"/>
              <a:t>DStream</a:t>
            </a:r>
            <a:r>
              <a:rPr lang="en-US" sz="4000" dirty="0"/>
              <a:t>. Window operations</a:t>
            </a:r>
            <a:endParaRPr lang="ru-RU" sz="4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0"/>
          <p:cNvSpPr txBox="1"/>
          <p:nvPr/>
        </p:nvSpPr>
        <p:spPr>
          <a:xfrm>
            <a:off x="432360" y="1918353"/>
            <a:ext cx="5191200" cy="2739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Using </a:t>
            </a:r>
            <a:r>
              <a:rPr lang="en-US" b="1" dirty="0" err="1"/>
              <a:t>MLlib</a:t>
            </a:r>
            <a:r>
              <a:rPr lang="en-US" b="1" dirty="0"/>
              <a:t>:</a:t>
            </a:r>
            <a:r>
              <a:rPr lang="en-US" dirty="0"/>
              <a:t> easy integration of machine learning 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Streaming learning:</a:t>
            </a:r>
            <a:r>
              <a:rPr lang="en-US" dirty="0"/>
              <a:t> simultaneous training and inference of the model (</a:t>
            </a:r>
            <a:r>
              <a:rPr lang="en-US" dirty="0" err="1"/>
              <a:t>StreamingLinearRegression</a:t>
            </a:r>
            <a:r>
              <a:rPr lang="en-US" dirty="0"/>
              <a:t>, </a:t>
            </a:r>
            <a:r>
              <a:rPr lang="en-US" dirty="0" err="1"/>
              <a:t>KMeans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Offline learning:</a:t>
            </a:r>
            <a:r>
              <a:rPr lang="en-US" dirty="0"/>
              <a:t> training on historical data and applying the model to the stream in real-time</a:t>
            </a:r>
            <a:endParaRPr lang="ru-RU" sz="2000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19FAE99-8FCD-19EF-2CB8-68F951D32D84}"/>
              </a:ext>
            </a:extLst>
          </p:cNvPr>
          <p:cNvSpPr txBox="1">
            <a:spLocks/>
          </p:cNvSpPr>
          <p:nvPr/>
        </p:nvSpPr>
        <p:spPr>
          <a:xfrm>
            <a:off x="736599" y="462281"/>
            <a:ext cx="10515600" cy="84328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z="4000" dirty="0" err="1"/>
              <a:t>DStream</a:t>
            </a:r>
            <a:r>
              <a:rPr lang="en-US" sz="4000" dirty="0"/>
              <a:t>. </a:t>
            </a:r>
            <a:r>
              <a:rPr lang="en-US" sz="4000" dirty="0" err="1"/>
              <a:t>MLlib</a:t>
            </a:r>
            <a:endParaRPr lang="ru-RU" sz="4000" dirty="0"/>
          </a:p>
        </p:txBody>
      </p:sp>
      <p:pic>
        <p:nvPicPr>
          <p:cNvPr id="7170" name="Picture 2" descr="streaming data spark">
            <a:extLst>
              <a:ext uri="{FF2B5EF4-FFF2-40B4-BE49-F238E27FC236}">
                <a16:creationId xmlns:a16="http://schemas.microsoft.com/office/drawing/2014/main" id="{BC673BD9-6F43-B11D-2876-2EBC1AE26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560" y="1539239"/>
            <a:ext cx="6456122" cy="3779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1"/>
          <p:cNvSpPr txBox="1">
            <a:spLocks noGrp="1"/>
          </p:cNvSpPr>
          <p:nvPr>
            <p:ph type="title"/>
          </p:nvPr>
        </p:nvSpPr>
        <p:spPr>
          <a:xfrm>
            <a:off x="415600" y="289988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ru" dirty="0">
                <a:ea typeface="Times New Roman"/>
                <a:cs typeface="Times New Roman"/>
                <a:sym typeface="Times New Roman"/>
              </a:rPr>
              <a:t>Structured </a:t>
            </a:r>
            <a:r>
              <a:rPr lang="en-US" dirty="0">
                <a:ea typeface="Times New Roman"/>
                <a:cs typeface="Times New Roman"/>
                <a:sym typeface="Times New Roman"/>
              </a:rPr>
              <a:t>S</a:t>
            </a:r>
            <a:r>
              <a:rPr lang="ru" dirty="0">
                <a:ea typeface="Times New Roman"/>
                <a:cs typeface="Times New Roman"/>
                <a:sym typeface="Times New Roman"/>
              </a:rPr>
              <a:t>treaming &amp; </a:t>
            </a:r>
            <a:r>
              <a:rPr lang="ru" dirty="0">
                <a:uFill>
                  <a:noFill/>
                </a:uFill>
                <a:ea typeface="Times New Roman"/>
                <a:cs typeface="Times New Roman"/>
                <a:sym typeface="Times New Roman"/>
                <a:hlinkClick r:id="rId3"/>
              </a:rPr>
              <a:t>Data</a:t>
            </a:r>
            <a:r>
              <a:rPr lang="en-US" dirty="0">
                <a:uFill>
                  <a:noFill/>
                </a:uFill>
                <a:ea typeface="Times New Roman"/>
                <a:cs typeface="Times New Roman"/>
                <a:sym typeface="Times New Roman"/>
                <a:hlinkClick r:id="rId3"/>
              </a:rPr>
              <a:t>F</a:t>
            </a:r>
            <a:r>
              <a:rPr lang="ru" dirty="0">
                <a:uFill>
                  <a:noFill/>
                </a:uFill>
                <a:ea typeface="Times New Roman"/>
                <a:cs typeface="Times New Roman"/>
                <a:sym typeface="Times New Roman"/>
                <a:hlinkClick r:id="rId3"/>
              </a:rPr>
              <a:t>rame</a:t>
            </a:r>
            <a:endParaRPr dirty="0"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3"/>
          <p:cNvPicPr preferRelativeResize="0"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8621" y="523241"/>
            <a:ext cx="8874757" cy="462326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35B8C8-83BB-676D-1429-9DD70434D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19" y="218441"/>
            <a:ext cx="10515600" cy="711200"/>
          </a:xfrm>
        </p:spPr>
        <p:txBody>
          <a:bodyPr>
            <a:normAutofit/>
          </a:bodyPr>
          <a:lstStyle/>
          <a:p>
            <a:r>
              <a:rPr lang="en-US" sz="3600" dirty="0"/>
              <a:t>Structured Streaming. Programming model</a:t>
            </a:r>
            <a:endParaRPr lang="ru-RU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EB78A4-3998-DE31-6524-3C4AA44D8738}"/>
              </a:ext>
            </a:extLst>
          </p:cNvPr>
          <p:cNvSpPr txBox="1"/>
          <p:nvPr/>
        </p:nvSpPr>
        <p:spPr>
          <a:xfrm>
            <a:off x="477520" y="5134430"/>
            <a:ext cx="9311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Key idea:</a:t>
            </a:r>
            <a:r>
              <a:rPr lang="en-US" dirty="0"/>
              <a:t> the data stream is treated as a constantly growing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Unification:</a:t>
            </a:r>
            <a:r>
              <a:rPr lang="en-US" dirty="0"/>
              <a:t> the stream processing model is close to the batch processing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API:</a:t>
            </a:r>
            <a:r>
              <a:rPr lang="en-US" dirty="0"/>
              <a:t> standard queries are used, just like for static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Execution:</a:t>
            </a:r>
            <a:r>
              <a:rPr lang="en-US" dirty="0"/>
              <a:t> Spark runs them as incremental queries against the Unbounded Table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4345" y="589280"/>
            <a:ext cx="9250589" cy="62687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0409DE-90A5-4980-56E3-F9041C106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19" y="218441"/>
            <a:ext cx="10515600" cy="711200"/>
          </a:xfrm>
        </p:spPr>
        <p:txBody>
          <a:bodyPr>
            <a:normAutofit/>
          </a:bodyPr>
          <a:lstStyle/>
          <a:p>
            <a:r>
              <a:rPr lang="en-US" sz="3600" dirty="0"/>
              <a:t>Structured Streaming. Programming model</a:t>
            </a:r>
            <a:endParaRPr lang="ru-RU" sz="3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0087" y="746760"/>
            <a:ext cx="8331826" cy="59740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CD235A-4A3F-1E34-CD2D-C801204EA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19" y="218441"/>
            <a:ext cx="10515600" cy="711200"/>
          </a:xfrm>
        </p:spPr>
        <p:txBody>
          <a:bodyPr>
            <a:normAutofit/>
          </a:bodyPr>
          <a:lstStyle/>
          <a:p>
            <a:r>
              <a:rPr lang="en-US" sz="3600" dirty="0"/>
              <a:t>Structured Streaming. Example</a:t>
            </a:r>
            <a:endParaRPr lang="ru-RU" sz="3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4A1FD46-570E-AE9E-653D-1CF6F7830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75" y="1343990"/>
            <a:ext cx="4596663" cy="441006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4667DAE-4747-A336-6353-E3A7E0108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137" y="1805547"/>
            <a:ext cx="7076388" cy="381181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52C4E0-477F-5F40-A0DE-FA5E41AD0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19" y="218441"/>
            <a:ext cx="10515600" cy="711200"/>
          </a:xfrm>
        </p:spPr>
        <p:txBody>
          <a:bodyPr>
            <a:normAutofit/>
          </a:bodyPr>
          <a:lstStyle/>
          <a:p>
            <a:r>
              <a:rPr lang="en-US" sz="3600" dirty="0"/>
              <a:t>Structured Streaming. Event Processing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6624877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879" y="894080"/>
            <a:ext cx="10444480" cy="567820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6ECE7D-47F8-87D8-B982-30C4866AB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19" y="218441"/>
            <a:ext cx="10515600" cy="711200"/>
          </a:xfrm>
        </p:spPr>
        <p:txBody>
          <a:bodyPr>
            <a:normAutofit/>
          </a:bodyPr>
          <a:lstStyle/>
          <a:p>
            <a:r>
              <a:rPr lang="en-US" sz="3600" dirty="0"/>
              <a:t>Structured Streaming. Event Processing</a:t>
            </a:r>
            <a:endParaRPr lang="ru-RU" sz="3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47"/>
          <p:cNvPicPr preferRelativeResize="0"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479" y="574041"/>
            <a:ext cx="10749279" cy="574552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1D2CF2-5AE1-C0D2-5CFA-90275CE6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19" y="218441"/>
            <a:ext cx="10515600" cy="711200"/>
          </a:xfrm>
        </p:spPr>
        <p:txBody>
          <a:bodyPr>
            <a:normAutofit/>
          </a:bodyPr>
          <a:lstStyle/>
          <a:p>
            <a:r>
              <a:rPr lang="en-US" sz="3600" dirty="0"/>
              <a:t>Structured Streaming. Late Data</a:t>
            </a:r>
            <a:endParaRPr lang="ru-RU" sz="3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E399D41-5CF7-92AF-42B2-EA00341FB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084" y="929641"/>
            <a:ext cx="8302288" cy="551677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E70288-4627-FD1F-0271-50338F032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19" y="218441"/>
            <a:ext cx="10515600" cy="711200"/>
          </a:xfrm>
        </p:spPr>
        <p:txBody>
          <a:bodyPr>
            <a:normAutofit/>
          </a:bodyPr>
          <a:lstStyle/>
          <a:p>
            <a:r>
              <a:rPr lang="en-US" sz="3600" dirty="0"/>
              <a:t>Structured Streaming. Watermarking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5660954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1440</TotalTime>
  <Words>519</Words>
  <Application>Microsoft Office PowerPoint</Application>
  <PresentationFormat>Широкоэкранный</PresentationFormat>
  <Paragraphs>86</Paragraphs>
  <Slides>26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Helvetica Neue</vt:lpstr>
      <vt:lpstr>Times New Roman</vt:lpstr>
      <vt:lpstr>Тема Office</vt:lpstr>
      <vt:lpstr>Industrial Machine Learning on Hadoop and Spark </vt:lpstr>
      <vt:lpstr>Distributed computing. Spark Streaming</vt:lpstr>
      <vt:lpstr>Streaming data and where to find it?</vt:lpstr>
      <vt:lpstr>Failure scenarios. Failure during processing. At-most-once</vt:lpstr>
      <vt:lpstr>Failure scenarios. Distributed Snapshot</vt:lpstr>
      <vt:lpstr>Failure scenarios. Failure during sending the processing result response. At-least-once</vt:lpstr>
      <vt:lpstr>Failure scenarios. At-least-once event delivery. Message deduplication</vt:lpstr>
      <vt:lpstr>Failure scenarios. At-least-once event delivery. Message deduplication</vt:lpstr>
      <vt:lpstr>End-to-end Exactly One Guarantee</vt:lpstr>
      <vt:lpstr>Lambda architecture</vt:lpstr>
      <vt:lpstr>Spark Streaming &amp; DStream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Structured Streaming &amp; DataFrame</vt:lpstr>
      <vt:lpstr>Structured Streaming. Programming model</vt:lpstr>
      <vt:lpstr>Structured Streaming. Programming model</vt:lpstr>
      <vt:lpstr>Structured Streaming. Example</vt:lpstr>
      <vt:lpstr>Structured Streaming. Event Processing</vt:lpstr>
      <vt:lpstr>Structured Streaming. Event Processing</vt:lpstr>
      <vt:lpstr>Structured Streaming. Late Data</vt:lpstr>
      <vt:lpstr>Structured Streaming. Watermarking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Machine Learning on Hadoop and Spark</dc:title>
  <dc:creator>Maksim Nakhodnov</dc:creator>
  <cp:lastModifiedBy>Maksim Nakhodnov</cp:lastModifiedBy>
  <cp:revision>383</cp:revision>
  <dcterms:created xsi:type="dcterms:W3CDTF">2025-09-08T14:49:50Z</dcterms:created>
  <dcterms:modified xsi:type="dcterms:W3CDTF">2025-12-01T18:03:03Z</dcterms:modified>
</cp:coreProperties>
</file>